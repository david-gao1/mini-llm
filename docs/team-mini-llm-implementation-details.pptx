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开场：强调这是我们自己的实现仓库，教程仓库只作为对照。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1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21313B"/>
          </a:solidFill>
          <a:ln w="12700">
            <a:solidFill>
              <a:srgbClr val="21313B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3931920" cy="6858000"/>
          </a:xfrm>
          <a:prstGeom prst="rect">
            <a:avLst/>
          </a:prstGeom>
          <a:solidFill>
            <a:srgbClr val="18242B"/>
          </a:solidFill>
          <a:ln w="12700">
            <a:solidFill>
              <a:srgbClr val="18242B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8549640" y="-685800"/>
            <a:ext cx="3474720" cy="3474720"/>
          </a:xfrm>
          <a:prstGeom prst="arc">
            <a:avLst/>
          </a:prstGeom>
          <a:noFill/>
          <a:ln w="127000">
            <a:solidFill>
              <a:srgbClr val="6BBF9A">
                <a:alpha val="4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052560" y="4526280"/>
            <a:ext cx="4389120" cy="4389120"/>
          </a:xfrm>
          <a:prstGeom prst="arc">
            <a:avLst/>
          </a:prstGeom>
          <a:noFill/>
          <a:ln w="152400">
            <a:solidFill>
              <a:srgbClr val="E4572E">
                <a:alpha val="3500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94360" y="502920"/>
            <a:ext cx="28346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spc="220" kern="0" dirty="0">
                <a:solidFill>
                  <a:srgbClr val="6BBF9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TEAM MINI LLM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594360" y="1261872"/>
            <a:ext cx="5806440" cy="67665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7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从零实现微型 LLM</a:t>
            </a:r>
            <a:endParaRPr lang="en-US" sz="2700" dirty="0"/>
          </a:p>
        </p:txBody>
      </p:sp>
      <p:sp>
        <p:nvSpPr>
          <p:cNvPr id="8" name="Text 6"/>
          <p:cNvSpPr/>
          <p:nvPr/>
        </p:nvSpPr>
        <p:spPr>
          <a:xfrm>
            <a:off x="603504" y="2057400"/>
            <a:ext cx="6309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20" dirty="0">
                <a:solidFill>
                  <a:srgbClr val="D7E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小组分工项目 · 实现细节与当前进度汇报</a:t>
            </a:r>
            <a:endParaRPr lang="en-US" sz="1320" dirty="0"/>
          </a:p>
        </p:txBody>
      </p:sp>
      <p:sp>
        <p:nvSpPr>
          <p:cNvPr id="9" name="Text 7"/>
          <p:cNvSpPr/>
          <p:nvPr/>
        </p:nvSpPr>
        <p:spPr>
          <a:xfrm>
            <a:off x="603504" y="5138928"/>
            <a:ext cx="4480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D7E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对照教程：LLMs-from-scratch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D7E3E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主项目：team-mini-llm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406640" y="1371600"/>
            <a:ext cx="1554480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E5E9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9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7406640" y="1371600"/>
            <a:ext cx="82296" cy="950976"/>
          </a:xfrm>
          <a:prstGeom prst="rect">
            <a:avLst/>
          </a:prstGeom>
          <a:solidFill>
            <a:srgbClr val="6BBF9A"/>
          </a:solidFill>
          <a:ln w="12700">
            <a:solidFill>
              <a:srgbClr val="6BBF9A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626096" y="15361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6BBF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44/44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626096" y="1938528"/>
            <a:ext cx="12344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当前单元测试通过</a:t>
            </a:r>
            <a:endParaRPr lang="en-US" sz="850" dirty="0"/>
          </a:p>
        </p:txBody>
      </p:sp>
      <p:sp>
        <p:nvSpPr>
          <p:cNvPr id="14" name="Shape 12"/>
          <p:cNvSpPr/>
          <p:nvPr/>
        </p:nvSpPr>
        <p:spPr>
          <a:xfrm>
            <a:off x="9189720" y="1371600"/>
            <a:ext cx="2011680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E5E9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9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9189720" y="1371600"/>
            <a:ext cx="82296" cy="950976"/>
          </a:xfrm>
          <a:prstGeom prst="rect">
            <a:avLst/>
          </a:prstGeom>
          <a:solidFill>
            <a:srgbClr val="F3A712"/>
          </a:solidFill>
          <a:ln w="12700">
            <a:solidFill>
              <a:srgbClr val="F3A71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409176" y="153619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3A7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P1/P2</a:t>
            </a:r>
            <a:endParaRPr lang="en-US" sz="2400" dirty="0"/>
          </a:p>
        </p:txBody>
      </p:sp>
      <p:sp>
        <p:nvSpPr>
          <p:cNvPr id="17" name="Text 15"/>
          <p:cNvSpPr/>
          <p:nvPr/>
        </p:nvSpPr>
        <p:spPr>
          <a:xfrm>
            <a:off x="9409176" y="193852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预训练与分类生成闭环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7406640" y="2606040"/>
            <a:ext cx="3794760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E5E9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7406640" y="2606040"/>
            <a:ext cx="82296" cy="950976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7626096" y="2770632"/>
            <a:ext cx="3429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P3</a:t>
            </a:r>
            <a:endParaRPr lang="en-US" sz="2400" dirty="0"/>
          </a:p>
        </p:txBody>
      </p:sp>
      <p:sp>
        <p:nvSpPr>
          <p:cNvPr id="21" name="Text 19"/>
          <p:cNvSpPr/>
          <p:nvPr/>
        </p:nvSpPr>
        <p:spPr>
          <a:xfrm>
            <a:off x="7626096" y="3172968"/>
            <a:ext cx="3474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 SFT Small 已跑通</a:t>
            </a:r>
            <a:endParaRPr lang="en-US" sz="850" dirty="0"/>
          </a:p>
        </p:txBody>
      </p:sp>
      <p:sp>
        <p:nvSpPr>
          <p:cNvPr id="22" name="Text 20"/>
          <p:cNvSpPr/>
          <p:nvPr/>
        </p:nvSpPr>
        <p:spPr>
          <a:xfrm>
            <a:off x="10607040" y="64739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D3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team-mini-llm | 01</a:t>
            </a:r>
            <a:endParaRPr lang="en-US" sz="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645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PROJECT BOUNDARY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项目边界：教程是参照，交付在 team-mini-llm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85800" y="1143000"/>
            <a:ext cx="297180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143000"/>
            <a:ext cx="91440" cy="1143000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289304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LLMs-from-scratch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05256" y="1618488"/>
            <a:ext cx="262432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官方教程与章节代码：只读对照，帮助确认算法与接口，不作为主实现长期依赖。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617720" y="1143000"/>
            <a:ext cx="315468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617720" y="1143000"/>
            <a:ext cx="91440" cy="11430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837176" y="1289304"/>
            <a:ext cx="28072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team-mini-llm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4837176" y="1618488"/>
            <a:ext cx="280720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小组主项目：源码、测试、配置、训练脚本、运行报告、OpenSpec 与验收手册都在这里维护。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8641080" y="1143000"/>
            <a:ext cx="2834640" cy="11430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641080" y="1143000"/>
            <a:ext cx="91440" cy="1143000"/>
          </a:xfrm>
          <a:prstGeom prst="rect">
            <a:avLst/>
          </a:prstGeom>
          <a:solidFill>
            <a:srgbClr val="8E7DBE"/>
          </a:solidFill>
          <a:ln w="12700">
            <a:solidFill>
              <a:srgbClr val="8E7DB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860536" y="1289304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llm-learning-journey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8860536" y="1618488"/>
            <a:ext cx="2487168" cy="5212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学习旅程目录暂不纳入本次进度判断，避免把笔记与交付混在一起。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3794760" y="1700784"/>
            <a:ext cx="640080" cy="0"/>
          </a:xfrm>
          <a:prstGeom prst="line">
            <a:avLst/>
          </a:prstGeom>
          <a:noFill/>
          <a:ln w="22860">
            <a:solidFill>
              <a:srgbClr val="CBD3D7"/>
            </a:solidFill>
            <a:prstDash val="solid"/>
            <a:headEnd type="none"/>
            <a:tailEnd type="triangle"/>
          </a:ln>
        </p:spPr>
      </p:sp>
      <p:sp>
        <p:nvSpPr>
          <p:cNvPr id="17" name="Shape 15"/>
          <p:cNvSpPr/>
          <p:nvPr/>
        </p:nvSpPr>
        <p:spPr>
          <a:xfrm>
            <a:off x="7909560" y="1700784"/>
            <a:ext cx="548640" cy="0"/>
          </a:xfrm>
          <a:prstGeom prst="line">
            <a:avLst/>
          </a:prstGeom>
          <a:noFill/>
          <a:ln w="22860">
            <a:solidFill>
              <a:srgbClr val="CBD3D7"/>
            </a:solidFill>
            <a:prstDash val="solid"/>
            <a:headEnd type="none"/>
            <a:tailEnd type="triangle"/>
          </a:ln>
        </p:spPr>
      </p:sp>
      <p:sp>
        <p:nvSpPr>
          <p:cNvPr id="18" name="Shape 16"/>
          <p:cNvSpPr/>
          <p:nvPr/>
        </p:nvSpPr>
        <p:spPr>
          <a:xfrm>
            <a:off x="685800" y="3063240"/>
            <a:ext cx="10789920" cy="2423160"/>
          </a:xfrm>
          <a:prstGeom prst="rect">
            <a:avLst/>
          </a:prstGeom>
          <a:solidFill>
            <a:srgbClr val="FFFFFF"/>
          </a:solidFill>
          <a:ln w="7620">
            <a:solidFill>
              <a:srgbClr val="D9E0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914400" y="3364992"/>
            <a:ext cx="128016" cy="25603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1115568" y="3401568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仓库内的交付物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960120" y="3803904"/>
            <a:ext cx="128016" cy="384048"/>
          </a:xfrm>
          <a:prstGeom prst="rect">
            <a:avLst/>
          </a:prstGeom>
          <a:solidFill>
            <a:srgbClr val="087E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1197864" y="380390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src/mini_llm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1197864" y="402336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m01 到 m07 模块实现</a:t>
            </a:r>
            <a:endParaRPr lang="en-US" sz="840" dirty="0"/>
          </a:p>
        </p:txBody>
      </p:sp>
      <p:sp>
        <p:nvSpPr>
          <p:cNvPr id="24" name="Shape 22"/>
          <p:cNvSpPr/>
          <p:nvPr/>
        </p:nvSpPr>
        <p:spPr>
          <a:xfrm>
            <a:off x="4389120" y="3803904"/>
            <a:ext cx="128016" cy="384048"/>
          </a:xfrm>
          <a:prstGeom prst="rect">
            <a:avLst/>
          </a:prstGeom>
          <a:solidFill>
            <a:srgbClr val="F3A7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626864" y="380390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tests/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4626864" y="402336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44 个测试用例</a:t>
            </a:r>
            <a:endParaRPr lang="en-US" sz="840" dirty="0"/>
          </a:p>
        </p:txBody>
      </p:sp>
      <p:sp>
        <p:nvSpPr>
          <p:cNvPr id="27" name="Shape 25"/>
          <p:cNvSpPr/>
          <p:nvPr/>
        </p:nvSpPr>
        <p:spPr>
          <a:xfrm>
            <a:off x="7818120" y="3803904"/>
            <a:ext cx="128016" cy="384048"/>
          </a:xfrm>
          <a:prstGeom prst="rect">
            <a:avLst/>
          </a:prstGeom>
          <a:solidFill>
            <a:srgbClr val="E457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8055864" y="3803904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configs/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8055864" y="4023360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Small / Medium / 分类 / 指令 SFT 配置</a:t>
            </a:r>
            <a:endParaRPr lang="en-US" sz="840" dirty="0"/>
          </a:p>
        </p:txBody>
      </p:sp>
      <p:sp>
        <p:nvSpPr>
          <p:cNvPr id="30" name="Shape 28"/>
          <p:cNvSpPr/>
          <p:nvPr/>
        </p:nvSpPr>
        <p:spPr>
          <a:xfrm>
            <a:off x="960120" y="4517136"/>
            <a:ext cx="128016" cy="384048"/>
          </a:xfrm>
          <a:prstGeom prst="rect">
            <a:avLst/>
          </a:prstGeom>
          <a:solidFill>
            <a:srgbClr val="087E8B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197864" y="451713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runs/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1197864" y="473659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预训练、分类、SFT checkpoint</a:t>
            </a:r>
            <a:endParaRPr lang="en-US" sz="840" dirty="0"/>
          </a:p>
        </p:txBody>
      </p:sp>
      <p:sp>
        <p:nvSpPr>
          <p:cNvPr id="33" name="Shape 31"/>
          <p:cNvSpPr/>
          <p:nvPr/>
        </p:nvSpPr>
        <p:spPr>
          <a:xfrm>
            <a:off x="4389120" y="4517136"/>
            <a:ext cx="128016" cy="384048"/>
          </a:xfrm>
          <a:prstGeom prst="rect">
            <a:avLst/>
          </a:prstGeom>
          <a:solidFill>
            <a:srgbClr val="F3A712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626864" y="451713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docs/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4626864" y="473659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REQ、报告、Owner Checklist</a:t>
            </a:r>
            <a:endParaRPr lang="en-US" sz="840" dirty="0"/>
          </a:p>
        </p:txBody>
      </p:sp>
      <p:sp>
        <p:nvSpPr>
          <p:cNvPr id="36" name="Shape 34"/>
          <p:cNvSpPr/>
          <p:nvPr/>
        </p:nvSpPr>
        <p:spPr>
          <a:xfrm>
            <a:off x="7818120" y="4517136"/>
            <a:ext cx="128016" cy="384048"/>
          </a:xfrm>
          <a:prstGeom prst="rect">
            <a:avLst/>
          </a:prstGeom>
          <a:solidFill>
            <a:srgbClr val="E4572E"/>
          </a:solidFill>
          <a:ln w="12700">
            <a:solidFill>
              <a:srgbClr val="FFFFFF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8055864" y="4517136"/>
            <a:ext cx="1572768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openspec/</a:t>
            </a:r>
            <a:endParaRPr lang="en-US" sz="950" dirty="0"/>
          </a:p>
        </p:txBody>
      </p:sp>
      <p:sp>
        <p:nvSpPr>
          <p:cNvPr id="38" name="Text 36"/>
          <p:cNvSpPr/>
          <p:nvPr/>
        </p:nvSpPr>
        <p:spPr>
          <a:xfrm>
            <a:off x="8055864" y="4736592"/>
            <a:ext cx="260604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4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行为规格与验收口径</a:t>
            </a:r>
            <a:endParaRPr lang="en-US" sz="840" dirty="0"/>
          </a:p>
        </p:txBody>
      </p:sp>
      <p:sp>
        <p:nvSpPr>
          <p:cNvPr id="39" name="Text 37"/>
          <p:cNvSpPr/>
          <p:nvPr/>
        </p:nvSpPr>
        <p:spPr>
          <a:xfrm>
            <a:off x="10607040" y="64739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team-mini-llm | 02</a:t>
            </a:r>
            <a:endParaRPr lang="en-US" sz="7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645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 WORKBREAKDOWN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小组分工：按 LLM 构建链路拆成七段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13232" y="1097280"/>
            <a:ext cx="402336" cy="402336"/>
          </a:xfrm>
          <a:prstGeom prst="ellipse">
            <a:avLst/>
          </a:prstGeom>
          <a:solidFill>
            <a:srgbClr val="087E8B"/>
          </a:solidFill>
          <a:ln w="12700">
            <a:solidFill>
              <a:srgbClr val="087E8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207008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1325880" y="104241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P1-01 / P1-02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2852928" y="102412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 + DataLoader</a:t>
            </a:r>
            <a:endParaRPr lang="en-US" sz="1120" dirty="0"/>
          </a:p>
        </p:txBody>
      </p:sp>
      <p:sp>
        <p:nvSpPr>
          <p:cNvPr id="8" name="Text 6"/>
          <p:cNvSpPr/>
          <p:nvPr/>
        </p:nvSpPr>
        <p:spPr>
          <a:xfrm>
            <a:off x="5074920" y="1033272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BPE 编码、滑动窗口、train/val split</a:t>
            </a:r>
            <a:endParaRPr lang="en-US" sz="880" dirty="0"/>
          </a:p>
        </p:txBody>
      </p:sp>
      <p:sp>
        <p:nvSpPr>
          <p:cNvPr id="9" name="Shape 7"/>
          <p:cNvSpPr/>
          <p:nvPr/>
        </p:nvSpPr>
        <p:spPr>
          <a:xfrm>
            <a:off x="10332720" y="969264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2B9348"/>
          </a:solidFill>
          <a:ln w="12700">
            <a:solidFill>
              <a:srgbClr val="2B934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0405872" y="1042416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done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713232" y="1901952"/>
            <a:ext cx="402336" cy="402336"/>
          </a:xfrm>
          <a:prstGeom prst="ellipse">
            <a:avLst/>
          </a:prstGeom>
          <a:solidFill>
            <a:srgbClr val="2E5EAA"/>
          </a:solidFill>
          <a:ln w="12700">
            <a:solidFill>
              <a:srgbClr val="2E5EA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713232" y="2011680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325880" y="1847088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5E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P1-03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2852928" y="1828800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Causal Attention</a:t>
            </a:r>
            <a:endParaRPr lang="en-US" sz="1120" dirty="0"/>
          </a:p>
        </p:txBody>
      </p:sp>
      <p:sp>
        <p:nvSpPr>
          <p:cNvPr id="15" name="Text 13"/>
          <p:cNvSpPr/>
          <p:nvPr/>
        </p:nvSpPr>
        <p:spPr>
          <a:xfrm>
            <a:off x="5074920" y="1837944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多头注意力、因果 mask、梯度稳定</a:t>
            </a:r>
            <a:endParaRPr lang="en-US" sz="880" dirty="0"/>
          </a:p>
        </p:txBody>
      </p:sp>
      <p:sp>
        <p:nvSpPr>
          <p:cNvPr id="16" name="Shape 14"/>
          <p:cNvSpPr/>
          <p:nvPr/>
        </p:nvSpPr>
        <p:spPr>
          <a:xfrm>
            <a:off x="10332720" y="1773936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2B9348"/>
          </a:solidFill>
          <a:ln w="12700">
            <a:solidFill>
              <a:srgbClr val="2B934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10405872" y="1847088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done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713232" y="2706624"/>
            <a:ext cx="402336" cy="402336"/>
          </a:xfrm>
          <a:prstGeom prst="ellipse">
            <a:avLst/>
          </a:prstGeom>
          <a:solidFill>
            <a:srgbClr val="8E7DBE"/>
          </a:solidFill>
          <a:ln w="12700">
            <a:solidFill>
              <a:srgbClr val="8E7DBE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13232" y="2816352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</a:t>
            </a:r>
            <a:endParaRPr lang="en-US" sz="800" dirty="0"/>
          </a:p>
        </p:txBody>
      </p:sp>
      <p:sp>
        <p:nvSpPr>
          <p:cNvPr id="20" name="Text 18"/>
          <p:cNvSpPr/>
          <p:nvPr/>
        </p:nvSpPr>
        <p:spPr>
          <a:xfrm>
            <a:off x="1325880" y="2651760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E7D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P1-04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2852928" y="2633472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GPTModel</a:t>
            </a:r>
            <a:endParaRPr lang="en-US" sz="1120" dirty="0"/>
          </a:p>
        </p:txBody>
      </p:sp>
      <p:sp>
        <p:nvSpPr>
          <p:cNvPr id="22" name="Text 20"/>
          <p:cNvSpPr/>
          <p:nvPr/>
        </p:nvSpPr>
        <p:spPr>
          <a:xfrm>
            <a:off x="5074920" y="2642616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Embedding、TransformerBlock、LM head</a:t>
            </a:r>
            <a:endParaRPr lang="en-US" sz="880" dirty="0"/>
          </a:p>
        </p:txBody>
      </p:sp>
      <p:sp>
        <p:nvSpPr>
          <p:cNvPr id="23" name="Shape 21"/>
          <p:cNvSpPr/>
          <p:nvPr/>
        </p:nvSpPr>
        <p:spPr>
          <a:xfrm>
            <a:off x="10332720" y="2578608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2B9348"/>
          </a:solidFill>
          <a:ln w="12700">
            <a:solidFill>
              <a:srgbClr val="2B934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405872" y="2651760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done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713232" y="3511296"/>
            <a:ext cx="402336" cy="402336"/>
          </a:xfrm>
          <a:prstGeom prst="ellipse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713232" y="3621024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</a:t>
            </a:r>
            <a:endParaRPr lang="en-US" sz="800" dirty="0"/>
          </a:p>
        </p:txBody>
      </p:sp>
      <p:sp>
        <p:nvSpPr>
          <p:cNvPr id="27" name="Text 25"/>
          <p:cNvSpPr/>
          <p:nvPr/>
        </p:nvSpPr>
        <p:spPr>
          <a:xfrm>
            <a:off x="1325880" y="3456432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A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P1-05 / P1-06 / P1-07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2852928" y="3438144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Training</a:t>
            </a:r>
            <a:endParaRPr lang="en-US" sz="1120" dirty="0"/>
          </a:p>
        </p:txBody>
      </p:sp>
      <p:sp>
        <p:nvSpPr>
          <p:cNvPr id="29" name="Text 27"/>
          <p:cNvSpPr/>
          <p:nvPr/>
        </p:nvSpPr>
        <p:spPr>
          <a:xfrm>
            <a:off x="5074920" y="3447288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 loss、checkpoint、MPS、Medium 实验</a:t>
            </a:r>
            <a:endParaRPr lang="en-US" sz="880" dirty="0"/>
          </a:p>
        </p:txBody>
      </p:sp>
      <p:sp>
        <p:nvSpPr>
          <p:cNvPr id="30" name="Shape 28"/>
          <p:cNvSpPr/>
          <p:nvPr/>
        </p:nvSpPr>
        <p:spPr>
          <a:xfrm>
            <a:off x="10332720" y="3383280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2B9348"/>
          </a:solidFill>
          <a:ln w="12700">
            <a:solidFill>
              <a:srgbClr val="2B9348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10405872" y="3456432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done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713232" y="4315968"/>
            <a:ext cx="402336" cy="402336"/>
          </a:xfrm>
          <a:prstGeom prst="ellipse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713232" y="4425696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325880" y="4261104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457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P2-01 / P2-02 / P2-03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2852928" y="4242816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Generate + Classify</a:t>
            </a:r>
            <a:endParaRPr lang="en-US" sz="1120" dirty="0"/>
          </a:p>
        </p:txBody>
      </p:sp>
      <p:sp>
        <p:nvSpPr>
          <p:cNvPr id="36" name="Text 34"/>
          <p:cNvSpPr/>
          <p:nvPr/>
        </p:nvSpPr>
        <p:spPr>
          <a:xfrm>
            <a:off x="5074920" y="4251960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采样生成、SMS 微调、CLI 推理</a:t>
            </a:r>
            <a:endParaRPr lang="en-US" sz="880" dirty="0"/>
          </a:p>
        </p:txBody>
      </p:sp>
      <p:sp>
        <p:nvSpPr>
          <p:cNvPr id="37" name="Shape 35"/>
          <p:cNvSpPr/>
          <p:nvPr/>
        </p:nvSpPr>
        <p:spPr>
          <a:xfrm>
            <a:off x="10332720" y="4187952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2B9348"/>
          </a:solidFill>
          <a:ln w="12700">
            <a:solidFill>
              <a:srgbClr val="2B934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10405872" y="4261104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done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713232" y="5120640"/>
            <a:ext cx="402336" cy="402336"/>
          </a:xfrm>
          <a:prstGeom prst="ellipse">
            <a:avLst/>
          </a:prstGeom>
          <a:solidFill>
            <a:srgbClr val="2B9348"/>
          </a:solidFill>
          <a:ln w="12700">
            <a:solidFill>
              <a:srgbClr val="2B9348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713232" y="5230368"/>
            <a:ext cx="402336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组长</a:t>
            </a:r>
            <a:endParaRPr lang="en-US" sz="800" dirty="0"/>
          </a:p>
        </p:txBody>
      </p:sp>
      <p:sp>
        <p:nvSpPr>
          <p:cNvPr id="41" name="Text 39"/>
          <p:cNvSpPr/>
          <p:nvPr/>
        </p:nvSpPr>
        <p:spPr>
          <a:xfrm>
            <a:off x="1325880" y="5065776"/>
            <a:ext cx="141732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93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P3-01 / P3-02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2852928" y="5047488"/>
            <a:ext cx="20116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2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Instruction SFT + Integration</a:t>
            </a:r>
            <a:endParaRPr lang="en-US" sz="1120" dirty="0"/>
          </a:p>
        </p:txBody>
      </p:sp>
      <p:sp>
        <p:nvSpPr>
          <p:cNvPr id="43" name="Text 41"/>
          <p:cNvSpPr/>
          <p:nvPr/>
        </p:nvSpPr>
        <p:spPr>
          <a:xfrm>
            <a:off x="5074920" y="5056632"/>
            <a:ext cx="4709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Ch7 数据管线、质检、OpenSpec、汇报</a:t>
            </a:r>
            <a:endParaRPr lang="en-US" sz="880" dirty="0"/>
          </a:p>
        </p:txBody>
      </p:sp>
      <p:sp>
        <p:nvSpPr>
          <p:cNvPr id="44" name="Shape 42"/>
          <p:cNvSpPr/>
          <p:nvPr/>
        </p:nvSpPr>
        <p:spPr>
          <a:xfrm>
            <a:off x="10332720" y="4992624"/>
            <a:ext cx="658368" cy="310896"/>
          </a:xfrm>
          <a:prstGeom prst="roundRect">
            <a:avLst>
              <a:gd name="adj" fmla="val 14706"/>
            </a:avLst>
          </a:prstGeom>
          <a:solidFill>
            <a:srgbClr val="F3A712"/>
          </a:solidFill>
          <a:ln w="12700">
            <a:solidFill>
              <a:srgbClr val="F3A712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405872" y="5065776"/>
            <a:ext cx="51206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wip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713232" y="5961888"/>
            <a:ext cx="10515600" cy="329184"/>
          </a:xfrm>
          <a:prstGeom prst="rect">
            <a:avLst/>
          </a:prstGeom>
          <a:solidFill>
            <a:srgbClr val="EEF5F2"/>
          </a:solidFill>
          <a:ln w="12700">
            <a:solidFill>
              <a:srgbClr val="D6E6DE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6053328"/>
            <a:ext cx="10104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8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主线理解：不是按文件随机分工，而是按“文本 → token → batch → logits → loss → checkpoint → 下游任务”的数据流拆分。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10607040" y="64739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team-mini-llm | 03</a:t>
            </a:r>
            <a:endParaRPr lang="en-US" sz="7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645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SYSTEM FLOW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主数据流：从原始文本到 checkpoint，再到生成/微调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40080" y="1280160"/>
            <a:ext cx="1627632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40080" y="1280160"/>
            <a:ext cx="91440" cy="960120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59536" y="14264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文本语料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859536" y="1755648"/>
            <a:ext cx="128016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WikiText / the-verdict / SMS / instruction JSON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2340864" y="1755648"/>
            <a:ext cx="219456" cy="0"/>
          </a:xfrm>
          <a:prstGeom prst="line">
            <a:avLst/>
          </a:prstGeom>
          <a:noFill/>
          <a:ln w="15240">
            <a:solidFill>
              <a:srgbClr val="65737C"/>
            </a:solidFill>
            <a:prstDash val="solid"/>
            <a:headEnd type="none"/>
            <a:tailEnd type="triangle"/>
          </a:ln>
        </p:spPr>
      </p:sp>
      <p:sp>
        <p:nvSpPr>
          <p:cNvPr id="9" name="Shape 7"/>
          <p:cNvSpPr/>
          <p:nvPr/>
        </p:nvSpPr>
        <p:spPr>
          <a:xfrm>
            <a:off x="2697480" y="1280160"/>
            <a:ext cx="1627632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697480" y="1280160"/>
            <a:ext cx="91440" cy="96012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916936" y="14264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BPE 分词</a:t>
            </a:r>
            <a:endParaRPr lang="en-US" sz="1080" dirty="0"/>
          </a:p>
        </p:txBody>
      </p:sp>
      <p:sp>
        <p:nvSpPr>
          <p:cNvPr id="12" name="Text 10"/>
          <p:cNvSpPr/>
          <p:nvPr/>
        </p:nvSpPr>
        <p:spPr>
          <a:xfrm>
            <a:off x="2916936" y="1755648"/>
            <a:ext cx="128016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tiktoken GPT-2 vocab = 50257</a:t>
            </a:r>
            <a:endParaRPr lang="en-US" sz="820" dirty="0"/>
          </a:p>
        </p:txBody>
      </p:sp>
      <p:sp>
        <p:nvSpPr>
          <p:cNvPr id="13" name="Shape 11"/>
          <p:cNvSpPr/>
          <p:nvPr/>
        </p:nvSpPr>
        <p:spPr>
          <a:xfrm>
            <a:off x="4398264" y="1755648"/>
            <a:ext cx="219456" cy="0"/>
          </a:xfrm>
          <a:prstGeom prst="line">
            <a:avLst/>
          </a:prstGeom>
          <a:noFill/>
          <a:ln w="15240">
            <a:solidFill>
              <a:srgbClr val="65737C"/>
            </a:solidFill>
            <a:prstDash val="solid"/>
            <a:headEnd type="none"/>
            <a:tailEnd type="triangle"/>
          </a:ln>
        </p:spPr>
      </p:sp>
      <p:sp>
        <p:nvSpPr>
          <p:cNvPr id="14" name="Shape 12"/>
          <p:cNvSpPr/>
          <p:nvPr/>
        </p:nvSpPr>
        <p:spPr>
          <a:xfrm>
            <a:off x="4754880" y="1280160"/>
            <a:ext cx="1627632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4754880" y="1280160"/>
            <a:ext cx="91440" cy="960120"/>
          </a:xfrm>
          <a:prstGeom prst="rect">
            <a:avLst/>
          </a:prstGeom>
          <a:solidFill>
            <a:srgbClr val="F3A712"/>
          </a:solidFill>
          <a:ln w="12700">
            <a:solidFill>
              <a:srgbClr val="F3A712">
                <a:alpha val="0"/>
              </a:srgbClr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974336" y="14264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滑动窗口</a:t>
            </a:r>
            <a:endParaRPr lang="en-US" sz="1080" dirty="0"/>
          </a:p>
        </p:txBody>
      </p:sp>
      <p:sp>
        <p:nvSpPr>
          <p:cNvPr id="17" name="Text 15"/>
          <p:cNvSpPr/>
          <p:nvPr/>
        </p:nvSpPr>
        <p:spPr>
          <a:xfrm>
            <a:off x="4974336" y="1755648"/>
            <a:ext cx="128016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input[T] 与 target[T] 右移一位</a:t>
            </a:r>
            <a:endParaRPr lang="en-US" sz="820" dirty="0"/>
          </a:p>
        </p:txBody>
      </p:sp>
      <p:sp>
        <p:nvSpPr>
          <p:cNvPr id="18" name="Shape 16"/>
          <p:cNvSpPr/>
          <p:nvPr/>
        </p:nvSpPr>
        <p:spPr>
          <a:xfrm>
            <a:off x="6455664" y="1755648"/>
            <a:ext cx="219456" cy="0"/>
          </a:xfrm>
          <a:prstGeom prst="line">
            <a:avLst/>
          </a:prstGeom>
          <a:noFill/>
          <a:ln w="15240">
            <a:solidFill>
              <a:srgbClr val="65737C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6812280" y="1280160"/>
            <a:ext cx="1627632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812280" y="1280160"/>
            <a:ext cx="91440" cy="960120"/>
          </a:xfrm>
          <a:prstGeom prst="rect">
            <a:avLst/>
          </a:prstGeom>
          <a:solidFill>
            <a:srgbClr val="8E7DBE"/>
          </a:solidFill>
          <a:ln w="12700">
            <a:solidFill>
              <a:srgbClr val="8E7DBE">
                <a:alpha val="0"/>
              </a:srgbClr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7031736" y="14264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GPTModel</a:t>
            </a:r>
            <a:endParaRPr lang="en-US" sz="1080" dirty="0"/>
          </a:p>
        </p:txBody>
      </p:sp>
      <p:sp>
        <p:nvSpPr>
          <p:cNvPr id="22" name="Text 20"/>
          <p:cNvSpPr/>
          <p:nvPr/>
        </p:nvSpPr>
        <p:spPr>
          <a:xfrm>
            <a:off x="7031736" y="1755648"/>
            <a:ext cx="128016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tok_emb + pos_emb + N×Block + LM head</a:t>
            </a:r>
            <a:endParaRPr lang="en-US" sz="820" dirty="0"/>
          </a:p>
        </p:txBody>
      </p:sp>
      <p:sp>
        <p:nvSpPr>
          <p:cNvPr id="23" name="Shape 21"/>
          <p:cNvSpPr/>
          <p:nvPr/>
        </p:nvSpPr>
        <p:spPr>
          <a:xfrm>
            <a:off x="8513064" y="1755648"/>
            <a:ext cx="356616" cy="0"/>
          </a:xfrm>
          <a:prstGeom prst="line">
            <a:avLst/>
          </a:prstGeom>
          <a:noFill/>
          <a:ln w="15240">
            <a:solidFill>
              <a:srgbClr val="65737C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9006840" y="1280160"/>
            <a:ext cx="1627632" cy="96012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9006840" y="1280160"/>
            <a:ext cx="91440" cy="96012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9226296" y="1426464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训练循环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9226296" y="1755648"/>
            <a:ext cx="1280160" cy="33832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CE loss / eval / best checkpoint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9107424" y="2395728"/>
            <a:ext cx="73152" cy="978408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144000" y="3364992"/>
            <a:ext cx="-6473952" cy="365760"/>
          </a:xfrm>
          <a:prstGeom prst="line">
            <a:avLst/>
          </a:prstGeom>
          <a:noFill/>
          <a:ln w="12700">
            <a:solidFill>
              <a:srgbClr val="65737C"/>
            </a:solidFill>
            <a:prstDash val="solid"/>
            <a:headEnd type="none"/>
            <a:tailEnd type="triangle"/>
          </a:ln>
        </p:spPr>
      </p:sp>
      <p:sp>
        <p:nvSpPr>
          <p:cNvPr id="30" name="Shape 28"/>
          <p:cNvSpPr/>
          <p:nvPr/>
        </p:nvSpPr>
        <p:spPr>
          <a:xfrm>
            <a:off x="9144000" y="3364992"/>
            <a:ext cx="-3794760" cy="365760"/>
          </a:xfrm>
          <a:prstGeom prst="line">
            <a:avLst/>
          </a:prstGeom>
          <a:noFill/>
          <a:ln w="12700">
            <a:solidFill>
              <a:srgbClr val="65737C"/>
            </a:solidFill>
            <a:prstDash val="solid"/>
            <a:headEnd type="none"/>
            <a:tailEnd type="triangle"/>
          </a:ln>
        </p:spPr>
      </p:sp>
      <p:sp>
        <p:nvSpPr>
          <p:cNvPr id="31" name="Shape 29"/>
          <p:cNvSpPr/>
          <p:nvPr/>
        </p:nvSpPr>
        <p:spPr>
          <a:xfrm>
            <a:off x="9144000" y="3364992"/>
            <a:ext cx="-1097280" cy="365760"/>
          </a:xfrm>
          <a:prstGeom prst="line">
            <a:avLst/>
          </a:prstGeom>
          <a:noFill/>
          <a:ln w="12700">
            <a:solidFill>
              <a:srgbClr val="65737C"/>
            </a:solidFill>
            <a:prstDash val="solid"/>
            <a:headEnd type="none"/>
            <a:tailEnd type="triangle"/>
          </a:ln>
        </p:spPr>
      </p:sp>
      <p:sp>
        <p:nvSpPr>
          <p:cNvPr id="32" name="Shape 30"/>
          <p:cNvSpPr/>
          <p:nvPr/>
        </p:nvSpPr>
        <p:spPr>
          <a:xfrm>
            <a:off x="1874520" y="3749040"/>
            <a:ext cx="1965960" cy="10058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874520" y="3749040"/>
            <a:ext cx="91440" cy="100584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2093976" y="389534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 m05</a:t>
            </a:r>
            <a:endParaRPr lang="en-US" sz="1080" dirty="0"/>
          </a:p>
        </p:txBody>
      </p:sp>
      <p:sp>
        <p:nvSpPr>
          <p:cNvPr id="35" name="Text 33"/>
          <p:cNvSpPr/>
          <p:nvPr/>
        </p:nvSpPr>
        <p:spPr>
          <a:xfrm>
            <a:off x="2093976" y="4224528"/>
            <a:ext cx="161848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temperature / top-k / greedy</a:t>
            </a:r>
            <a:endParaRPr lang="en-US" sz="820" dirty="0"/>
          </a:p>
        </p:txBody>
      </p:sp>
      <p:sp>
        <p:nvSpPr>
          <p:cNvPr id="36" name="Shape 34"/>
          <p:cNvSpPr/>
          <p:nvPr/>
        </p:nvSpPr>
        <p:spPr>
          <a:xfrm>
            <a:off x="4572000" y="3749040"/>
            <a:ext cx="1965960" cy="10058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4572000" y="3749040"/>
            <a:ext cx="91440" cy="100584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4791456" y="389534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分类微调 m06</a:t>
            </a:r>
            <a:endParaRPr lang="en-US" sz="1080" dirty="0"/>
          </a:p>
        </p:txBody>
      </p:sp>
      <p:sp>
        <p:nvSpPr>
          <p:cNvPr id="39" name="Text 37"/>
          <p:cNvSpPr/>
          <p:nvPr/>
        </p:nvSpPr>
        <p:spPr>
          <a:xfrm>
            <a:off x="4791456" y="4224528"/>
            <a:ext cx="161848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冻结/解冻 + 分类 head</a:t>
            </a:r>
            <a:endParaRPr lang="en-US" sz="820" dirty="0"/>
          </a:p>
        </p:txBody>
      </p:sp>
      <p:sp>
        <p:nvSpPr>
          <p:cNvPr id="40" name="Shape 38"/>
          <p:cNvSpPr/>
          <p:nvPr/>
        </p:nvSpPr>
        <p:spPr>
          <a:xfrm>
            <a:off x="7269480" y="3749040"/>
            <a:ext cx="1965960" cy="10058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7269480" y="3749040"/>
            <a:ext cx="91440" cy="1005840"/>
          </a:xfrm>
          <a:prstGeom prst="rect">
            <a:avLst/>
          </a:prstGeom>
          <a:solidFill>
            <a:srgbClr val="2B9348"/>
          </a:solidFill>
          <a:ln w="12700">
            <a:solidFill>
              <a:srgbClr val="2B9348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488936" y="3895344"/>
            <a:ext cx="1618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 SFT m07</a:t>
            </a:r>
            <a:endParaRPr lang="en-US" sz="1080" dirty="0"/>
          </a:p>
        </p:txBody>
      </p:sp>
      <p:sp>
        <p:nvSpPr>
          <p:cNvPr id="43" name="Text 41"/>
          <p:cNvSpPr/>
          <p:nvPr/>
        </p:nvSpPr>
        <p:spPr>
          <a:xfrm>
            <a:off x="7488936" y="4224528"/>
            <a:ext cx="161848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instruction 模板 + ignore_index</a:t>
            </a:r>
            <a:endParaRPr lang="en-US" sz="820" dirty="0"/>
          </a:p>
        </p:txBody>
      </p:sp>
      <p:sp>
        <p:nvSpPr>
          <p:cNvPr id="44" name="Text 42"/>
          <p:cNvSpPr/>
          <p:nvPr/>
        </p:nvSpPr>
        <p:spPr>
          <a:xfrm>
            <a:off x="1143000" y="5870448"/>
            <a:ext cx="98755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4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关键契约：所有主线模块都围绕张量形状 `[B, T] → [B, T, V]` 与 checkpoint 元数据保持一致。</a:t>
            </a:r>
            <a:endParaRPr lang="en-US" sz="1040" dirty="0"/>
          </a:p>
        </p:txBody>
      </p:sp>
      <p:sp>
        <p:nvSpPr>
          <p:cNvPr id="45" name="Text 43"/>
          <p:cNvSpPr/>
          <p:nvPr/>
        </p:nvSpPr>
        <p:spPr>
          <a:xfrm>
            <a:off x="10607040" y="64739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team-mini-llm | 04</a:t>
            </a:r>
            <a:endParaRPr lang="en-US" sz="7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645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I IMPLEMENTATION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 核心模块：把书上的 GPT 拆成可验收组件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58368" y="1170432"/>
            <a:ext cx="3246120" cy="1353312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8255">
            <a:solidFill>
              <a:srgbClr val="D9E0E4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58368" y="1170432"/>
            <a:ext cx="3246120" cy="7315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804672" y="133502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m01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804672" y="1554480"/>
            <a:ext cx="2953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Tokenizer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804672" y="1874520"/>
            <a:ext cx="295351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GPT-2 BPE 封装；encode/decode 往返；词表与 config 校验。</a:t>
            </a:r>
            <a:endParaRPr lang="en-US" sz="770" dirty="0"/>
          </a:p>
        </p:txBody>
      </p:sp>
      <p:sp>
        <p:nvSpPr>
          <p:cNvPr id="9" name="Shape 7"/>
          <p:cNvSpPr/>
          <p:nvPr/>
        </p:nvSpPr>
        <p:spPr>
          <a:xfrm>
            <a:off x="3264408" y="1298448"/>
            <a:ext cx="475488" cy="310896"/>
          </a:xfrm>
          <a:prstGeom prst="roundRect">
            <a:avLst>
              <a:gd name="adj" fmla="val 14706"/>
            </a:avLst>
          </a:prstGeom>
          <a:solidFill>
            <a:srgbClr val="2B9348"/>
          </a:solidFill>
          <a:ln w="12700">
            <a:solidFill>
              <a:srgbClr val="2B9348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37160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done</a:t>
            </a:r>
            <a:endParaRPr lang="en-US" sz="720" dirty="0"/>
          </a:p>
        </p:txBody>
      </p:sp>
      <p:sp>
        <p:nvSpPr>
          <p:cNvPr id="11" name="Shape 9"/>
          <p:cNvSpPr/>
          <p:nvPr/>
        </p:nvSpPr>
        <p:spPr>
          <a:xfrm>
            <a:off x="4434840" y="1170432"/>
            <a:ext cx="3246120" cy="1353312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8255">
            <a:solidFill>
              <a:srgbClr val="D9E0E4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434840" y="1170432"/>
            <a:ext cx="3246120" cy="73152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>
                <a:alpha val="0"/>
              </a:srgbClr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81144" y="133502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E5E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m02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4581144" y="1554480"/>
            <a:ext cx="2953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DataLoader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581144" y="1874520"/>
            <a:ext cx="295351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文本加载、token 缓存、滑动窗口；样本契约为 input/target `[T]`。</a:t>
            </a:r>
            <a:endParaRPr lang="en-US" sz="770" dirty="0"/>
          </a:p>
        </p:txBody>
      </p:sp>
      <p:sp>
        <p:nvSpPr>
          <p:cNvPr id="16" name="Shape 14"/>
          <p:cNvSpPr/>
          <p:nvPr/>
        </p:nvSpPr>
        <p:spPr>
          <a:xfrm>
            <a:off x="7040880" y="1298448"/>
            <a:ext cx="475488" cy="310896"/>
          </a:xfrm>
          <a:prstGeom prst="roundRect">
            <a:avLst>
              <a:gd name="adj" fmla="val 14706"/>
            </a:avLst>
          </a:prstGeom>
          <a:solidFill>
            <a:srgbClr val="2B9348"/>
          </a:solidFill>
          <a:ln w="12700">
            <a:solidFill>
              <a:srgbClr val="2B9348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114032" y="137160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done</a:t>
            </a:r>
            <a:endParaRPr lang="en-US" sz="720" dirty="0"/>
          </a:p>
        </p:txBody>
      </p:sp>
      <p:sp>
        <p:nvSpPr>
          <p:cNvPr id="18" name="Shape 16"/>
          <p:cNvSpPr/>
          <p:nvPr/>
        </p:nvSpPr>
        <p:spPr>
          <a:xfrm>
            <a:off x="8211312" y="1170432"/>
            <a:ext cx="3246120" cy="1353312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8255">
            <a:solidFill>
              <a:srgbClr val="D9E0E4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8211312" y="1170432"/>
            <a:ext cx="3246120" cy="73152"/>
          </a:xfrm>
          <a:prstGeom prst="rect">
            <a:avLst/>
          </a:prstGeom>
          <a:solidFill>
            <a:srgbClr val="F3A712"/>
          </a:solidFill>
          <a:ln w="12700">
            <a:solidFill>
              <a:srgbClr val="F3A712">
                <a:alpha val="0"/>
              </a:srgbClr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8357616" y="133502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F3A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m03</a:t>
            </a:r>
            <a:endParaRPr lang="en-US" sz="850" dirty="0"/>
          </a:p>
        </p:txBody>
      </p:sp>
      <p:sp>
        <p:nvSpPr>
          <p:cNvPr id="21" name="Text 19"/>
          <p:cNvSpPr/>
          <p:nvPr/>
        </p:nvSpPr>
        <p:spPr>
          <a:xfrm>
            <a:off x="8357616" y="1554480"/>
            <a:ext cx="2953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Attention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357616" y="1874520"/>
            <a:ext cx="295351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多头因果自注意力；上三角 mask；输出形状 `[B,T,d]`。</a:t>
            </a:r>
            <a:endParaRPr lang="en-US" sz="770" dirty="0"/>
          </a:p>
        </p:txBody>
      </p:sp>
      <p:sp>
        <p:nvSpPr>
          <p:cNvPr id="23" name="Shape 21"/>
          <p:cNvSpPr/>
          <p:nvPr/>
        </p:nvSpPr>
        <p:spPr>
          <a:xfrm>
            <a:off x="10817352" y="1298448"/>
            <a:ext cx="475488" cy="310896"/>
          </a:xfrm>
          <a:prstGeom prst="roundRect">
            <a:avLst>
              <a:gd name="adj" fmla="val 14706"/>
            </a:avLst>
          </a:prstGeom>
          <a:solidFill>
            <a:srgbClr val="2B9348"/>
          </a:solidFill>
          <a:ln w="12700">
            <a:solidFill>
              <a:srgbClr val="2B9348">
                <a:alpha val="0"/>
              </a:srgbClr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890504" y="137160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done</a:t>
            </a:r>
            <a:endParaRPr lang="en-US" sz="720" dirty="0"/>
          </a:p>
        </p:txBody>
      </p:sp>
      <p:sp>
        <p:nvSpPr>
          <p:cNvPr id="25" name="Shape 23"/>
          <p:cNvSpPr/>
          <p:nvPr/>
        </p:nvSpPr>
        <p:spPr>
          <a:xfrm>
            <a:off x="658368" y="3136392"/>
            <a:ext cx="3246120" cy="1353312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8255">
            <a:solidFill>
              <a:srgbClr val="D9E0E4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58368" y="3136392"/>
            <a:ext cx="3246120" cy="73152"/>
          </a:xfrm>
          <a:prstGeom prst="rect">
            <a:avLst/>
          </a:prstGeom>
          <a:solidFill>
            <a:srgbClr val="8E7DBE"/>
          </a:solidFill>
          <a:ln w="12700">
            <a:solidFill>
              <a:srgbClr val="8E7DBE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804672" y="330098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8E7DB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m04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804672" y="3520440"/>
            <a:ext cx="2953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GPTModel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804672" y="3840480"/>
            <a:ext cx="295351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LayerNorm、GELU、FFN、TransformerBlock、完整 GPT logits。</a:t>
            </a:r>
            <a:endParaRPr lang="en-US" sz="770" dirty="0"/>
          </a:p>
        </p:txBody>
      </p:sp>
      <p:sp>
        <p:nvSpPr>
          <p:cNvPr id="30" name="Shape 28"/>
          <p:cNvSpPr/>
          <p:nvPr/>
        </p:nvSpPr>
        <p:spPr>
          <a:xfrm>
            <a:off x="3264408" y="3264408"/>
            <a:ext cx="475488" cy="310896"/>
          </a:xfrm>
          <a:prstGeom prst="roundRect">
            <a:avLst>
              <a:gd name="adj" fmla="val 14706"/>
            </a:avLst>
          </a:prstGeom>
          <a:solidFill>
            <a:srgbClr val="2B9348"/>
          </a:solidFill>
          <a:ln w="12700">
            <a:solidFill>
              <a:srgbClr val="2B9348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3337560" y="333756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done</a:t>
            </a:r>
            <a:endParaRPr lang="en-US" sz="720" dirty="0"/>
          </a:p>
        </p:txBody>
      </p:sp>
      <p:sp>
        <p:nvSpPr>
          <p:cNvPr id="32" name="Shape 30"/>
          <p:cNvSpPr/>
          <p:nvPr/>
        </p:nvSpPr>
        <p:spPr>
          <a:xfrm>
            <a:off x="4434840" y="3136392"/>
            <a:ext cx="3246120" cy="1353312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8255">
            <a:solidFill>
              <a:srgbClr val="D9E0E4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434840" y="3136392"/>
            <a:ext cx="3246120" cy="73152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581144" y="330098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E457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</a:t>
            </a:r>
            <a:endParaRPr lang="en-US" sz="850" dirty="0"/>
          </a:p>
        </p:txBody>
      </p:sp>
      <p:sp>
        <p:nvSpPr>
          <p:cNvPr id="35" name="Text 33"/>
          <p:cNvSpPr/>
          <p:nvPr/>
        </p:nvSpPr>
        <p:spPr>
          <a:xfrm>
            <a:off x="4581144" y="3520440"/>
            <a:ext cx="2953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Pretraining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581144" y="3840480"/>
            <a:ext cx="295351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交叉熵损失、评估、checkpoint、sample generation。</a:t>
            </a:r>
            <a:endParaRPr lang="en-US" sz="770" dirty="0"/>
          </a:p>
        </p:txBody>
      </p:sp>
      <p:sp>
        <p:nvSpPr>
          <p:cNvPr id="37" name="Shape 35"/>
          <p:cNvSpPr/>
          <p:nvPr/>
        </p:nvSpPr>
        <p:spPr>
          <a:xfrm>
            <a:off x="7040880" y="3264408"/>
            <a:ext cx="475488" cy="310896"/>
          </a:xfrm>
          <a:prstGeom prst="roundRect">
            <a:avLst>
              <a:gd name="adj" fmla="val 14706"/>
            </a:avLst>
          </a:prstGeom>
          <a:solidFill>
            <a:srgbClr val="2B9348"/>
          </a:solidFill>
          <a:ln w="12700">
            <a:solidFill>
              <a:srgbClr val="2B9348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7114032" y="333756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done</a:t>
            </a:r>
            <a:endParaRPr lang="en-US" sz="720" dirty="0"/>
          </a:p>
        </p:txBody>
      </p:sp>
      <p:sp>
        <p:nvSpPr>
          <p:cNvPr id="39" name="Shape 37"/>
          <p:cNvSpPr/>
          <p:nvPr/>
        </p:nvSpPr>
        <p:spPr>
          <a:xfrm>
            <a:off x="8211312" y="3136392"/>
            <a:ext cx="3246120" cy="1353312"/>
          </a:xfrm>
          <a:prstGeom prst="roundRect">
            <a:avLst>
              <a:gd name="adj" fmla="val 3378"/>
            </a:avLst>
          </a:prstGeom>
          <a:solidFill>
            <a:srgbClr val="FFFFFF"/>
          </a:solidFill>
          <a:ln w="8255">
            <a:solidFill>
              <a:srgbClr val="D9E0E4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211312" y="3136392"/>
            <a:ext cx="3246120" cy="73152"/>
          </a:xfrm>
          <a:prstGeom prst="rect">
            <a:avLst/>
          </a:prstGeom>
          <a:solidFill>
            <a:srgbClr val="2B9348"/>
          </a:solidFill>
          <a:ln w="12700">
            <a:solidFill>
              <a:srgbClr val="2B9348">
                <a:alpha val="0"/>
              </a:srgbClr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8357616" y="3300984"/>
            <a:ext cx="713232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50" b="1" dirty="0">
                <a:solidFill>
                  <a:srgbClr val="2B934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opt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8357616" y="3520440"/>
            <a:ext cx="295351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 Optimize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8357616" y="3840480"/>
            <a:ext cx="2953512" cy="393192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77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MPS、梯度裁剪、warmup+cosine、early stopping、best checkpoint。</a:t>
            </a:r>
            <a:endParaRPr lang="en-US" sz="770" dirty="0"/>
          </a:p>
        </p:txBody>
      </p:sp>
      <p:sp>
        <p:nvSpPr>
          <p:cNvPr id="44" name="Shape 42"/>
          <p:cNvSpPr/>
          <p:nvPr/>
        </p:nvSpPr>
        <p:spPr>
          <a:xfrm>
            <a:off x="10817352" y="3264408"/>
            <a:ext cx="475488" cy="310896"/>
          </a:xfrm>
          <a:prstGeom prst="roundRect">
            <a:avLst>
              <a:gd name="adj" fmla="val 14706"/>
            </a:avLst>
          </a:prstGeom>
          <a:solidFill>
            <a:srgbClr val="2B9348"/>
          </a:solidFill>
          <a:ln w="12700">
            <a:solidFill>
              <a:srgbClr val="2B9348">
                <a:alpha val="0"/>
              </a:srgbClr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10890504" y="3337560"/>
            <a:ext cx="329184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7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done</a:t>
            </a:r>
            <a:endParaRPr lang="en-US" sz="720" dirty="0"/>
          </a:p>
        </p:txBody>
      </p:sp>
      <p:sp>
        <p:nvSpPr>
          <p:cNvPr id="46" name="Shape 44"/>
          <p:cNvSpPr/>
          <p:nvPr/>
        </p:nvSpPr>
        <p:spPr>
          <a:xfrm>
            <a:off x="685800" y="5577840"/>
            <a:ext cx="10771632" cy="438912"/>
          </a:xfrm>
          <a:prstGeom prst="rect">
            <a:avLst/>
          </a:prstGeom>
          <a:solidFill>
            <a:srgbClr val="F0F4F5"/>
          </a:solidFill>
          <a:ln w="12700">
            <a:solidFill>
              <a:srgbClr val="DAE2E6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914400" y="5724144"/>
            <a:ext cx="102870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实现方式：每个模块先给 API 与张量契约，再用 pytest 做 L0/L1/L2 验收，最后由训练脚本串成 L3 闭环。</a:t>
            </a:r>
            <a:endParaRPr lang="en-US" sz="880" dirty="0"/>
          </a:p>
        </p:txBody>
      </p:sp>
      <p:sp>
        <p:nvSpPr>
          <p:cNvPr id="48" name="Text 46"/>
          <p:cNvSpPr/>
          <p:nvPr/>
        </p:nvSpPr>
        <p:spPr>
          <a:xfrm>
            <a:off x="10607040" y="64739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team-mini-llm | 05</a:t>
            </a:r>
            <a:endParaRPr lang="en-US" sz="7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645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TRAINING LOOP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训练循环：不仅能跑，还能保存、监控、恢复验证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13232" y="1060704"/>
            <a:ext cx="224028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060704"/>
            <a:ext cx="91440" cy="9144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207008"/>
            <a:ext cx="189280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入口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32688" y="1536192"/>
            <a:ext cx="189280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读取 JSON config，固定 seed，选择 auto/cpu/cuda/mps 设备。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154680" y="1060704"/>
            <a:ext cx="237744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54680" y="1060704"/>
            <a:ext cx="91440" cy="914400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74136" y="1207008"/>
            <a:ext cx="20299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3374136" y="1536192"/>
            <a:ext cx="202996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加载语料，切分 train/val，构造 DataLoader，支持 token 缓存。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5715000" y="1060704"/>
            <a:ext cx="214884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15000" y="1060704"/>
            <a:ext cx="91440" cy="914400"/>
          </a:xfrm>
          <a:prstGeom prst="rect">
            <a:avLst/>
          </a:prstGeom>
          <a:solidFill>
            <a:srgbClr val="8E7DBE"/>
          </a:solidFill>
          <a:ln w="12700">
            <a:solidFill>
              <a:srgbClr val="8E7DB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34456" y="1207008"/>
            <a:ext cx="18013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5934456" y="1536192"/>
            <a:ext cx="180136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按 config 创建 GPTModel；输出 logits `[B,T,V]`。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8028432" y="1060704"/>
            <a:ext cx="242316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028432" y="1060704"/>
            <a:ext cx="91440" cy="914400"/>
          </a:xfrm>
          <a:prstGeom prst="rect">
            <a:avLst/>
          </a:prstGeom>
          <a:solidFill>
            <a:srgbClr val="F3A712"/>
          </a:solidFill>
          <a:ln w="12700">
            <a:solidFill>
              <a:srgbClr val="F3A71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247888" y="1207008"/>
            <a:ext cx="20756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优化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8247888" y="1536192"/>
            <a:ext cx="207568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AdamW + gradient clipping + warmup/cosine scheduler。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4617720" y="2788920"/>
            <a:ext cx="2971800" cy="105156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617720" y="2788920"/>
            <a:ext cx="91440" cy="105156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37176" y="2935224"/>
            <a:ext cx="26243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产物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4837176" y="3264408"/>
            <a:ext cx="2624328" cy="42976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`checkpoint_latest.pt` 与 `checkpoint_best.pt`，含 config / step / loss。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2971800" y="1517904"/>
            <a:ext cx="155448" cy="0"/>
          </a:xfrm>
          <a:prstGeom prst="line">
            <a:avLst/>
          </a:prstGeom>
          <a:noFill/>
          <a:ln w="19050">
            <a:solidFill>
              <a:srgbClr val="65737C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5559552" y="1517904"/>
            <a:ext cx="128016" cy="0"/>
          </a:xfrm>
          <a:prstGeom prst="line">
            <a:avLst/>
          </a:prstGeom>
          <a:noFill/>
          <a:ln w="19050">
            <a:solidFill>
              <a:srgbClr val="65737C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7882128" y="1517904"/>
            <a:ext cx="118872" cy="0"/>
          </a:xfrm>
          <a:prstGeom prst="line">
            <a:avLst/>
          </a:prstGeom>
          <a:noFill/>
          <a:ln w="19050">
            <a:solidFill>
              <a:srgbClr val="65737C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9235440" y="2048256"/>
            <a:ext cx="-2788920" cy="713232"/>
          </a:xfrm>
          <a:prstGeom prst="line">
            <a:avLst/>
          </a:prstGeom>
          <a:noFill/>
          <a:ln w="19050">
            <a:solidFill>
              <a:srgbClr val="65737C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914400" y="4434840"/>
            <a:ext cx="1920240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E5E9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914400" y="4434840"/>
            <a:ext cx="82296" cy="950976"/>
          </a:xfrm>
          <a:prstGeom prst="rect">
            <a:avLst/>
          </a:prstGeom>
          <a:solidFill>
            <a:srgbClr val="2B9348"/>
          </a:solidFill>
          <a:ln w="12700">
            <a:solidFill>
              <a:srgbClr val="2B9348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1133856" y="45994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93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MPS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1133856" y="50017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Apple Silicon 加速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3108960" y="4434840"/>
            <a:ext cx="1920240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E5E9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3108960" y="4434840"/>
            <a:ext cx="82296" cy="950976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3328416" y="45994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best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3328416" y="50017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验证集最优权重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5303520" y="4434840"/>
            <a:ext cx="1920240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E5E9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5303520" y="4434840"/>
            <a:ext cx="82296" cy="950976"/>
          </a:xfrm>
          <a:prstGeom prst="rect">
            <a:avLst/>
          </a:prstGeom>
          <a:solidFill>
            <a:srgbClr val="F3A712"/>
          </a:solidFill>
          <a:ln w="12700">
            <a:solidFill>
              <a:srgbClr val="F3A712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522976" y="45994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3A7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cosine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5522976" y="50017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学习率退火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7498080" y="4434840"/>
            <a:ext cx="1920240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E5E9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9000"/>
              </a:srgbClr>
            </a:outerShdw>
          </a:effectLst>
        </p:spPr>
      </p:sp>
      <p:sp>
        <p:nvSpPr>
          <p:cNvPr id="41" name="Shape 39"/>
          <p:cNvSpPr/>
          <p:nvPr/>
        </p:nvSpPr>
        <p:spPr>
          <a:xfrm>
            <a:off x="7498080" y="4434840"/>
            <a:ext cx="82296" cy="950976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7717536" y="45994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7E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early</a:t>
            </a:r>
            <a:endParaRPr lang="en-US" sz="2400" dirty="0"/>
          </a:p>
        </p:txBody>
      </p:sp>
      <p:sp>
        <p:nvSpPr>
          <p:cNvPr id="43" name="Text 41"/>
          <p:cNvSpPr/>
          <p:nvPr/>
        </p:nvSpPr>
        <p:spPr>
          <a:xfrm>
            <a:off x="7717536" y="50017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过拟合时停训</a:t>
            </a:r>
            <a:endParaRPr lang="en-US" sz="850" dirty="0"/>
          </a:p>
        </p:txBody>
      </p:sp>
      <p:sp>
        <p:nvSpPr>
          <p:cNvPr id="44" name="Text 42"/>
          <p:cNvSpPr/>
          <p:nvPr/>
        </p:nvSpPr>
        <p:spPr>
          <a:xfrm>
            <a:off x="10607040" y="64739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team-mini-llm | 06</a:t>
            </a:r>
            <a:endParaRPr lang="en-US" sz="7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21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645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6BB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EXPERIMENT RESULT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75895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GPT-2 Small × WikiText-103：预训练主实验已跑通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13232" y="1261872"/>
            <a:ext cx="2011680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E5E9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9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13232" y="1261872"/>
            <a:ext cx="82296" cy="950976"/>
          </a:xfrm>
          <a:prstGeom prst="rect">
            <a:avLst/>
          </a:prstGeom>
          <a:solidFill>
            <a:srgbClr val="6BBF9A"/>
          </a:solidFill>
          <a:ln w="12700">
            <a:solidFill>
              <a:srgbClr val="6BBF9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426464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6BBF9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163M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932688" y="1828800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GPT-2 Small 规模参数</a:t>
            </a:r>
            <a:endParaRPr lang="en-US" sz="850" dirty="0"/>
          </a:p>
        </p:txBody>
      </p:sp>
      <p:sp>
        <p:nvSpPr>
          <p:cNvPr id="8" name="Shape 6"/>
          <p:cNvSpPr/>
          <p:nvPr/>
        </p:nvSpPr>
        <p:spPr>
          <a:xfrm>
            <a:off x="2971800" y="1261872"/>
            <a:ext cx="2057400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E5E9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2971800" y="1261872"/>
            <a:ext cx="82296" cy="950976"/>
          </a:xfrm>
          <a:prstGeom prst="rect">
            <a:avLst/>
          </a:prstGeom>
          <a:solidFill>
            <a:srgbClr val="F3A712"/>
          </a:solidFill>
          <a:ln w="12700">
            <a:solidFill>
              <a:srgbClr val="F3A712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191256" y="142646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3A7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54,967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3191256" y="1828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训练步数</a:t>
            </a:r>
            <a:endParaRPr lang="en-US" sz="850" dirty="0"/>
          </a:p>
        </p:txBody>
      </p:sp>
      <p:sp>
        <p:nvSpPr>
          <p:cNvPr id="12" name="Shape 10"/>
          <p:cNvSpPr/>
          <p:nvPr/>
        </p:nvSpPr>
        <p:spPr>
          <a:xfrm>
            <a:off x="5303520" y="1261872"/>
            <a:ext cx="2057400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E5E9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303520" y="1261872"/>
            <a:ext cx="82296" cy="950976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522976" y="1426464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16h39m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5522976" y="1828800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M3 Max 训练耗时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635240" y="1261872"/>
            <a:ext cx="2148840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E5E9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7635240" y="1261872"/>
            <a:ext cx="82296" cy="950976"/>
          </a:xfrm>
          <a:prstGeom prst="rect">
            <a:avLst/>
          </a:prstGeom>
          <a:solidFill>
            <a:srgbClr val="2B9348"/>
          </a:solidFill>
          <a:ln w="12700">
            <a:solidFill>
              <a:srgbClr val="2B9348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7854696" y="1426464"/>
            <a:ext cx="17830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93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3.3092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854696" y="1828800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best val_loss</a:t>
            </a:r>
            <a:endParaRPr lang="en-US" sz="850" dirty="0"/>
          </a:p>
        </p:txBody>
      </p:sp>
      <p:sp>
        <p:nvSpPr>
          <p:cNvPr id="20" name="Shape 18"/>
          <p:cNvSpPr/>
          <p:nvPr/>
        </p:nvSpPr>
        <p:spPr>
          <a:xfrm>
            <a:off x="713232" y="2788920"/>
            <a:ext cx="7315200" cy="2423160"/>
          </a:xfrm>
          <a:prstGeom prst="rect">
            <a:avLst/>
          </a:prstGeom>
          <a:solidFill>
            <a:srgbClr val="253843"/>
          </a:solidFill>
          <a:ln w="12700">
            <a:solidFill>
              <a:srgbClr val="3A515D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60120" y="3017520"/>
            <a:ext cx="27432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验证损失下降轨迹（关键节点）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960120" y="4782312"/>
            <a:ext cx="6583680" cy="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960120" y="3456432"/>
            <a:ext cx="0" cy="1325880"/>
          </a:xfrm>
          <a:prstGeom prst="line">
            <a:avLst/>
          </a:prstGeom>
          <a:noFill/>
          <a:ln w="12700">
            <a:solidFill>
              <a:srgbClr val="90A4AE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60120" y="3520717"/>
            <a:ext cx="1645920" cy="494192"/>
          </a:xfrm>
          <a:prstGeom prst="line">
            <a:avLst/>
          </a:prstGeom>
          <a:noFill/>
          <a:ln w="33020">
            <a:solidFill>
              <a:srgbClr val="6BBF9A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2606040" y="4014909"/>
            <a:ext cx="1645920" cy="345532"/>
          </a:xfrm>
          <a:prstGeom prst="line">
            <a:avLst/>
          </a:prstGeom>
          <a:noFill/>
          <a:ln w="33020">
            <a:solidFill>
              <a:srgbClr val="6BBF9A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251960" y="4360441"/>
            <a:ext cx="1645920" cy="192855"/>
          </a:xfrm>
          <a:prstGeom prst="line">
            <a:avLst/>
          </a:prstGeom>
          <a:noFill/>
          <a:ln w="33020">
            <a:solidFill>
              <a:srgbClr val="6BBF9A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897880" y="4553296"/>
            <a:ext cx="1645920" cy="144641"/>
          </a:xfrm>
          <a:prstGeom prst="line">
            <a:avLst/>
          </a:prstGeom>
          <a:noFill/>
          <a:ln w="33020">
            <a:solidFill>
              <a:srgbClr val="6BBF9A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918972" y="3479569"/>
            <a:ext cx="82296" cy="82296"/>
          </a:xfrm>
          <a:prstGeom prst="ellipse">
            <a:avLst/>
          </a:prstGeom>
          <a:solidFill>
            <a:srgbClr val="6BBF9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564892" y="3973761"/>
            <a:ext cx="82296" cy="82296"/>
          </a:xfrm>
          <a:prstGeom prst="ellipse">
            <a:avLst/>
          </a:prstGeom>
          <a:solidFill>
            <a:srgbClr val="6BBF9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210812" y="4319293"/>
            <a:ext cx="82296" cy="82296"/>
          </a:xfrm>
          <a:prstGeom prst="ellipse">
            <a:avLst/>
          </a:prstGeom>
          <a:solidFill>
            <a:srgbClr val="6BBF9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5856732" y="4512148"/>
            <a:ext cx="82296" cy="82296"/>
          </a:xfrm>
          <a:prstGeom prst="ellipse">
            <a:avLst/>
          </a:prstGeom>
          <a:solidFill>
            <a:srgbClr val="6BBF9A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502652" y="4656790"/>
            <a:ext cx="82296" cy="82296"/>
          </a:xfrm>
          <a:prstGeom prst="ellipse">
            <a:avLst/>
          </a:prstGeom>
          <a:solidFill>
            <a:srgbClr val="F3A712"/>
          </a:solidFill>
          <a:ln w="5080">
            <a:solidFill>
              <a:srgbClr val="FFFFFF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960120" y="4892040"/>
            <a:ext cx="630936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D6E2E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6.24 → 5.01 → 4.15 → 3.67 → 3.31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8485632" y="2999232"/>
            <a:ext cx="2743200" cy="1280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2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生成样例已能输出维基风格英文；`@-@`、`= = =` 属 WikiText 数据格式痕迹。</a:t>
            </a:r>
            <a:endParaRPr lang="en-US" sz="1320" dirty="0"/>
          </a:p>
        </p:txBody>
      </p:sp>
      <p:sp>
        <p:nvSpPr>
          <p:cNvPr id="35" name="Text 33"/>
          <p:cNvSpPr/>
          <p:nvPr/>
        </p:nvSpPr>
        <p:spPr>
          <a:xfrm>
            <a:off x="10607040" y="64739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D3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team-mini-llm | 07</a:t>
            </a:r>
            <a:endParaRPr lang="en-US" sz="7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645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II DOWNSTREAM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生成与分类：同一个 GPT 底座接两种下游能力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13232" y="1143000"/>
            <a:ext cx="3246120" cy="1298448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13232" y="1143000"/>
            <a:ext cx="91440" cy="1298448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32688" y="1289304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P2-01 文本生成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32688" y="1618488"/>
            <a:ext cx="2898648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`generate_from_checkpoint.py` 加载预训练 checkpoint；支持 greedy、temperature、top-k。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4434840" y="1143000"/>
            <a:ext cx="3246120" cy="1298448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434840" y="1143000"/>
            <a:ext cx="91440" cy="1298448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54296" y="1289304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P2-02 分类微调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4654296" y="1618488"/>
            <a:ext cx="2898648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`finetune_classify.py` 加分类 head，在 SMS Spam 数据集上微调。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8156448" y="1143000"/>
            <a:ext cx="3246120" cy="1298448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156448" y="1143000"/>
            <a:ext cx="91440" cy="1298448"/>
          </a:xfrm>
          <a:prstGeom prst="rect">
            <a:avLst/>
          </a:prstGeom>
          <a:solidFill>
            <a:srgbClr val="F3A712"/>
          </a:solidFill>
          <a:ln w="12700">
            <a:solidFill>
              <a:srgbClr val="F3A71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375904" y="1289304"/>
            <a:ext cx="28986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P2-03 单条推理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8375904" y="1618488"/>
            <a:ext cx="2898648" cy="676656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`classify_sms.py --text ...` 默认读取 phase_b 权重，stdout 输出 ham / spam。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932688" y="3246120"/>
            <a:ext cx="4526280" cy="2057400"/>
          </a:xfrm>
          <a:prstGeom prst="rect">
            <a:avLst/>
          </a:prstGeom>
          <a:solidFill>
            <a:srgbClr val="F0F7F7"/>
          </a:solidFill>
          <a:ln w="12700">
            <a:solidFill>
              <a:srgbClr val="D3E8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143000" y="3520440"/>
            <a:ext cx="128016" cy="256032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1344168" y="35570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生成链路</a:t>
            </a:r>
            <a:endParaRPr lang="en-US" sz="880" dirty="0"/>
          </a:p>
        </p:txBody>
      </p:sp>
      <p:sp>
        <p:nvSpPr>
          <p:cNvPr id="19" name="Text 17"/>
          <p:cNvSpPr/>
          <p:nvPr/>
        </p:nvSpPr>
        <p:spPr>
          <a:xfrm>
            <a:off x="1133856" y="39776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prompt → encode → GPTModel → next token → append → decode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1280160" y="470916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注意：WikiText 模型不是 Chat 助手；公平检验应用英文 prompt。</a:t>
            </a:r>
            <a:endParaRPr lang="en-US" sz="880" dirty="0"/>
          </a:p>
        </p:txBody>
      </p:sp>
      <p:sp>
        <p:nvSpPr>
          <p:cNvPr id="21" name="Shape 19"/>
          <p:cNvSpPr/>
          <p:nvPr/>
        </p:nvSpPr>
        <p:spPr>
          <a:xfrm>
            <a:off x="6446520" y="3246120"/>
            <a:ext cx="4526280" cy="2057400"/>
          </a:xfrm>
          <a:prstGeom prst="rect">
            <a:avLst/>
          </a:prstGeom>
          <a:solidFill>
            <a:srgbClr val="FFF3EC"/>
          </a:solidFill>
          <a:ln w="12700">
            <a:solidFill>
              <a:srgbClr val="F2D4C5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6656832" y="3520440"/>
            <a:ext cx="128016" cy="256032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6858000" y="3557016"/>
            <a:ext cx="25603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b="1" dirty="0">
                <a:solidFill>
                  <a:srgbClr val="E45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分类链路</a:t>
            </a:r>
            <a:endParaRPr lang="en-US" sz="880" dirty="0"/>
          </a:p>
        </p:txBody>
      </p:sp>
      <p:sp>
        <p:nvSpPr>
          <p:cNvPr id="24" name="Text 22"/>
          <p:cNvSpPr/>
          <p:nvPr/>
        </p:nvSpPr>
        <p:spPr>
          <a:xfrm>
            <a:off x="6647688" y="3977640"/>
            <a:ext cx="4069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token_ids[max_length] → logits[-1] → 2 类概率 → ham/spam</a:t>
            </a:r>
            <a:endParaRPr lang="en-US" sz="1500" dirty="0"/>
          </a:p>
        </p:txBody>
      </p:sp>
      <p:sp>
        <p:nvSpPr>
          <p:cNvPr id="25" name="Text 23"/>
          <p:cNvSpPr/>
          <p:nvPr/>
        </p:nvSpPr>
        <p:spPr>
          <a:xfrm>
            <a:off x="6793992" y="4709160"/>
            <a:ext cx="37947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8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验收关注 Recall_spam 与 FN：漏判垃圾短信比误报更敏感。</a:t>
            </a:r>
            <a:endParaRPr lang="en-US" sz="880" dirty="0"/>
          </a:p>
        </p:txBody>
      </p:sp>
      <p:sp>
        <p:nvSpPr>
          <p:cNvPr id="26" name="Text 24"/>
          <p:cNvSpPr/>
          <p:nvPr/>
        </p:nvSpPr>
        <p:spPr>
          <a:xfrm>
            <a:off x="10607040" y="64739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team-mini-llm | 08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645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PART III INSTRUCTION SFT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指令微调：把连续文本模型接到 Ch7 作业纸格式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685800" y="1078992"/>
            <a:ext cx="2743200" cy="10058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85800" y="1078992"/>
            <a:ext cx="91440" cy="1005840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05256" y="1225296"/>
            <a:ext cx="239572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数据格式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05256" y="1554480"/>
            <a:ext cx="239572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书本 instruction-data.json：instruction / input / output。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3657600" y="1078992"/>
            <a:ext cx="2834640" cy="10058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657600" y="1078992"/>
            <a:ext cx="91440" cy="100584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877056" y="1225296"/>
            <a:ext cx="24871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format_input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3877056" y="1554480"/>
            <a:ext cx="24871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拼成 `Below is an instruction... ### Response:` 风格模板。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6720840" y="1078992"/>
            <a:ext cx="3063240" cy="10058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720840" y="1078992"/>
            <a:ext cx="91440" cy="1005840"/>
          </a:xfrm>
          <a:prstGeom prst="rect">
            <a:avLst/>
          </a:prstGeom>
          <a:solidFill>
            <a:srgbClr val="F3A712"/>
          </a:solidFill>
          <a:ln w="12700">
            <a:solidFill>
              <a:srgbClr val="F3A712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940296" y="1225296"/>
            <a:ext cx="271576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collate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6940296" y="1554480"/>
            <a:ext cx="271576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pad 到同长；target 右移；pad 位置设 `-100` 跳过 loss。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4590288" y="2788920"/>
            <a:ext cx="3017520" cy="100584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590288" y="2788920"/>
            <a:ext cx="91440" cy="100584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09744" y="2935224"/>
            <a:ext cx="26700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 训练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4809744" y="3264408"/>
            <a:ext cx="2670048" cy="38404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全量 LM 头交叉熵；写出 `instruction_meta` 与 checkpoint。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3456432" y="1572768"/>
            <a:ext cx="164592" cy="0"/>
          </a:xfrm>
          <a:prstGeom prst="line">
            <a:avLst/>
          </a:prstGeom>
          <a:noFill/>
          <a:ln w="19050">
            <a:solidFill>
              <a:srgbClr val="65737C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6528816" y="1572768"/>
            <a:ext cx="164592" cy="0"/>
          </a:xfrm>
          <a:prstGeom prst="line">
            <a:avLst/>
          </a:prstGeom>
          <a:noFill/>
          <a:ln w="19050">
            <a:solidFill>
              <a:srgbClr val="65737C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8211312" y="2103120"/>
            <a:ext cx="-1810512" cy="640080"/>
          </a:xfrm>
          <a:prstGeom prst="line">
            <a:avLst/>
          </a:prstGeom>
          <a:noFill/>
          <a:ln w="19050">
            <a:solidFill>
              <a:srgbClr val="65737C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868680" y="4617720"/>
            <a:ext cx="10149840" cy="786384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1078992" y="4882896"/>
            <a:ext cx="9738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当前状态：Small 轨道已跑通；Medium 轨道配置已备，但正式质量依赖 P1-07 Medium checkpoint。</a:t>
            </a:r>
            <a:endParaRPr lang="en-US" sz="1180" dirty="0"/>
          </a:p>
        </p:txBody>
      </p:sp>
      <p:sp>
        <p:nvSpPr>
          <p:cNvPr id="25" name="Shape 23"/>
          <p:cNvSpPr/>
          <p:nvPr/>
        </p:nvSpPr>
        <p:spPr>
          <a:xfrm>
            <a:off x="1417320" y="5623560"/>
            <a:ext cx="1920240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E5E9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9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1417320" y="5623560"/>
            <a:ext cx="82296" cy="950976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>
                <a:alpha val="0"/>
              </a:srgbClr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1636776" y="57881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E5EAA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24×3</a:t>
            </a:r>
            <a:endParaRPr lang="en-US" sz="2400" dirty="0"/>
          </a:p>
        </p:txBody>
      </p:sp>
      <p:sp>
        <p:nvSpPr>
          <p:cNvPr id="28" name="Text 26"/>
          <p:cNvSpPr/>
          <p:nvPr/>
        </p:nvSpPr>
        <p:spPr>
          <a:xfrm>
            <a:off x="1636776" y="619048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冒烟数据划分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3886200" y="5623560"/>
            <a:ext cx="2011680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E5E9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9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3886200" y="5623560"/>
            <a:ext cx="82296" cy="950976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105656" y="5788152"/>
            <a:ext cx="1645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4.09</a:t>
            </a:r>
            <a:endParaRPr lang="en-US" sz="2400" dirty="0"/>
          </a:p>
        </p:txBody>
      </p:sp>
      <p:sp>
        <p:nvSpPr>
          <p:cNvPr id="32" name="Text 30"/>
          <p:cNvSpPr/>
          <p:nvPr/>
        </p:nvSpPr>
        <p:spPr>
          <a:xfrm>
            <a:off x="4105656" y="6190488"/>
            <a:ext cx="1691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SFT smoke best val_loss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446520" y="5623560"/>
            <a:ext cx="2057400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E5E9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9000"/>
              </a:srgbClr>
            </a:outerShdw>
          </a:effectLst>
        </p:spPr>
      </p:sp>
      <p:sp>
        <p:nvSpPr>
          <p:cNvPr id="34" name="Shape 32"/>
          <p:cNvSpPr/>
          <p:nvPr/>
        </p:nvSpPr>
        <p:spPr>
          <a:xfrm>
            <a:off x="6446520" y="5623560"/>
            <a:ext cx="82296" cy="950976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6665976" y="5788152"/>
            <a:ext cx="16916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7E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full val</a:t>
            </a:r>
            <a:endParaRPr lang="en-US" sz="2400" dirty="0"/>
          </a:p>
        </p:txBody>
      </p:sp>
      <p:sp>
        <p:nvSpPr>
          <p:cNvPr id="36" name="Text 34"/>
          <p:cNvSpPr/>
          <p:nvPr/>
        </p:nvSpPr>
        <p:spPr>
          <a:xfrm>
            <a:off x="6665976" y="6190488"/>
            <a:ext cx="1737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P3-02 已加评估口径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10607040" y="64739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team-mini-llm | 09</a:t>
            </a:r>
            <a:endParaRPr lang="en-US" sz="7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645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QUALITY GATES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验收体系：不是口头完成，而是 Harness + 报告 + checkpoint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77240" y="1143000"/>
            <a:ext cx="10607040" cy="676656"/>
          </a:xfrm>
          <a:prstGeom prst="rect">
            <a:avLst/>
          </a:prstGeom>
          <a:solidFill>
            <a:srgbClr val="F0F5F6"/>
          </a:solidFill>
          <a:ln w="12700">
            <a:solidFill>
              <a:srgbClr val="DDE4E8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987552" y="132588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87E8B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L0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1965960" y="130759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纯函数 / 单模块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160520" y="130759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pytest tests/test_*.py</a:t>
            </a:r>
            <a:endParaRPr lang="en-US" sz="920" dirty="0"/>
          </a:p>
        </p:txBody>
      </p:sp>
      <p:sp>
        <p:nvSpPr>
          <p:cNvPr id="8" name="Text 6"/>
          <p:cNvSpPr/>
          <p:nvPr/>
        </p:nvSpPr>
        <p:spPr>
          <a:xfrm>
            <a:off x="7406640" y="130759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形状一致、数值有限</a:t>
            </a:r>
            <a:endParaRPr lang="en-US" sz="920" dirty="0"/>
          </a:p>
        </p:txBody>
      </p:sp>
      <p:sp>
        <p:nvSpPr>
          <p:cNvPr id="9" name="Shape 7"/>
          <p:cNvSpPr/>
          <p:nvPr/>
        </p:nvSpPr>
        <p:spPr>
          <a:xfrm>
            <a:off x="777240" y="2103120"/>
            <a:ext cx="10607040" cy="676656"/>
          </a:xfrm>
          <a:prstGeom prst="rect">
            <a:avLst/>
          </a:prstGeom>
          <a:solidFill>
            <a:srgbClr val="F8FAFB"/>
          </a:solidFill>
          <a:ln w="12700">
            <a:solidFill>
              <a:srgbClr val="DDE4E8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987552" y="228600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2E5EAA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L1/L2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1965960" y="226771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模块链路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160520" y="226771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loader → model → loss / eval</a:t>
            </a:r>
            <a:endParaRPr lang="en-US" sz="920" dirty="0"/>
          </a:p>
        </p:txBody>
      </p:sp>
      <p:sp>
        <p:nvSpPr>
          <p:cNvPr id="13" name="Text 11"/>
          <p:cNvSpPr/>
          <p:nvPr/>
        </p:nvSpPr>
        <p:spPr>
          <a:xfrm>
            <a:off x="7406640" y="226771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可前向、可复评</a:t>
            </a:r>
            <a:endParaRPr lang="en-US" sz="920" dirty="0"/>
          </a:p>
        </p:txBody>
      </p:sp>
      <p:sp>
        <p:nvSpPr>
          <p:cNvPr id="14" name="Shape 12"/>
          <p:cNvSpPr/>
          <p:nvPr/>
        </p:nvSpPr>
        <p:spPr>
          <a:xfrm>
            <a:off x="777240" y="3063240"/>
            <a:ext cx="10607040" cy="676656"/>
          </a:xfrm>
          <a:prstGeom prst="rect">
            <a:avLst/>
          </a:prstGeom>
          <a:solidFill>
            <a:srgbClr val="F0F5F6"/>
          </a:solidFill>
          <a:ln w="12700">
            <a:solidFill>
              <a:srgbClr val="DDE4E8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987552" y="324612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4572E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L3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1965960" y="322783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端到端实验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160520" y="322783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train.py / finetune_*.py</a:t>
            </a:r>
            <a:endParaRPr lang="en-US" sz="920" dirty="0"/>
          </a:p>
        </p:txBody>
      </p:sp>
      <p:sp>
        <p:nvSpPr>
          <p:cNvPr id="18" name="Text 16"/>
          <p:cNvSpPr/>
          <p:nvPr/>
        </p:nvSpPr>
        <p:spPr>
          <a:xfrm>
            <a:off x="7406640" y="322783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checkpoint 落盘、loss 有记录</a:t>
            </a:r>
            <a:endParaRPr lang="en-US" sz="920" dirty="0"/>
          </a:p>
        </p:txBody>
      </p:sp>
      <p:sp>
        <p:nvSpPr>
          <p:cNvPr id="19" name="Shape 17"/>
          <p:cNvSpPr/>
          <p:nvPr/>
        </p:nvSpPr>
        <p:spPr>
          <a:xfrm>
            <a:off x="777240" y="4023360"/>
            <a:ext cx="10607040" cy="676656"/>
          </a:xfrm>
          <a:prstGeom prst="rect">
            <a:avLst/>
          </a:prstGeom>
          <a:solidFill>
            <a:srgbClr val="F8FAFB"/>
          </a:solidFill>
          <a:ln w="12700">
            <a:solidFill>
              <a:srgbClr val="DDE4E8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987552" y="4206240"/>
            <a:ext cx="91440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3A712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OpenSpec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1965960" y="4187952"/>
            <a:ext cx="19659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行为规格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160520" y="4187952"/>
            <a:ext cx="29260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172026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pretraining / generation / classify / sft</a:t>
            </a:r>
            <a:endParaRPr lang="en-US" sz="920" dirty="0"/>
          </a:p>
        </p:txBody>
      </p:sp>
      <p:sp>
        <p:nvSpPr>
          <p:cNvPr id="23" name="Text 21"/>
          <p:cNvSpPr/>
          <p:nvPr/>
        </p:nvSpPr>
        <p:spPr>
          <a:xfrm>
            <a:off x="7406640" y="4187952"/>
            <a:ext cx="3383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需求与验收口径同步</a:t>
            </a:r>
            <a:endParaRPr lang="en-US" sz="920" dirty="0"/>
          </a:p>
        </p:txBody>
      </p:sp>
      <p:sp>
        <p:nvSpPr>
          <p:cNvPr id="24" name="Shape 22"/>
          <p:cNvSpPr/>
          <p:nvPr/>
        </p:nvSpPr>
        <p:spPr>
          <a:xfrm>
            <a:off x="1051560" y="5349240"/>
            <a:ext cx="2331720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E5E9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1051560" y="5349240"/>
            <a:ext cx="82296" cy="950976"/>
          </a:xfrm>
          <a:prstGeom prst="rect">
            <a:avLst/>
          </a:prstGeom>
          <a:solidFill>
            <a:srgbClr val="2B9348"/>
          </a:solidFill>
          <a:ln w="12700">
            <a:solidFill>
              <a:srgbClr val="2B9348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1271016" y="55138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2B934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44/44</a:t>
            </a:r>
            <a:endParaRPr lang="en-US" sz="2400" dirty="0"/>
          </a:p>
        </p:txBody>
      </p:sp>
      <p:sp>
        <p:nvSpPr>
          <p:cNvPr id="27" name="Text 25"/>
          <p:cNvSpPr/>
          <p:nvPr/>
        </p:nvSpPr>
        <p:spPr>
          <a:xfrm>
            <a:off x="1271016" y="5916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本次检查全量测试通过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3794760" y="5349240"/>
            <a:ext cx="1920240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E5E9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3794760" y="5349240"/>
            <a:ext cx="82296" cy="950976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014216" y="55138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087E8B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M1</a:t>
            </a:r>
            <a:endParaRPr lang="en-US" sz="2400" dirty="0"/>
          </a:p>
        </p:txBody>
      </p:sp>
      <p:sp>
        <p:nvSpPr>
          <p:cNvPr id="31" name="Text 29"/>
          <p:cNvSpPr/>
          <p:nvPr/>
        </p:nvSpPr>
        <p:spPr>
          <a:xfrm>
            <a:off x="4014216" y="59161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预训练闭环通过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6172200" y="5349240"/>
            <a:ext cx="2331720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E5E9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9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6172200" y="5349240"/>
            <a:ext cx="82296" cy="950976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391656" y="5513832"/>
            <a:ext cx="19659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E4572E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M2</a:t>
            </a:r>
            <a:endParaRPr lang="en-US" sz="2400" dirty="0"/>
          </a:p>
        </p:txBody>
      </p:sp>
      <p:sp>
        <p:nvSpPr>
          <p:cNvPr id="35" name="Text 33"/>
          <p:cNvSpPr/>
          <p:nvPr/>
        </p:nvSpPr>
        <p:spPr>
          <a:xfrm>
            <a:off x="6391656" y="5916168"/>
            <a:ext cx="20116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checkpoint 生成链路通过</a:t>
            </a:r>
            <a:endParaRPr lang="en-US" sz="850" dirty="0"/>
          </a:p>
        </p:txBody>
      </p:sp>
      <p:sp>
        <p:nvSpPr>
          <p:cNvPr id="36" name="Shape 34"/>
          <p:cNvSpPr/>
          <p:nvPr/>
        </p:nvSpPr>
        <p:spPr>
          <a:xfrm>
            <a:off x="8915400" y="5349240"/>
            <a:ext cx="1920240" cy="950976"/>
          </a:xfrm>
          <a:prstGeom prst="rect">
            <a:avLst/>
          </a:prstGeom>
          <a:solidFill>
            <a:srgbClr val="FFFFFF"/>
          </a:solidFill>
          <a:ln w="8890">
            <a:solidFill>
              <a:srgbClr val="E5E9EC"/>
            </a:solidFill>
            <a:prstDash val="solid"/>
          </a:ln>
          <a:effectLst>
            <a:outerShdw sx="100000" sy="100000" kx="0" ky="0" algn="bl" rotWithShape="0" blurRad="12700" dist="12700" dir="2700000">
              <a:srgbClr val="000000">
                <a:alpha val="9000"/>
              </a:srgbClr>
            </a:outerShdw>
          </a:effectLst>
        </p:spPr>
      </p:sp>
      <p:sp>
        <p:nvSpPr>
          <p:cNvPr id="37" name="Shape 35"/>
          <p:cNvSpPr/>
          <p:nvPr/>
        </p:nvSpPr>
        <p:spPr>
          <a:xfrm>
            <a:off x="8915400" y="5349240"/>
            <a:ext cx="82296" cy="950976"/>
          </a:xfrm>
          <a:prstGeom prst="rect">
            <a:avLst/>
          </a:prstGeom>
          <a:solidFill>
            <a:srgbClr val="F3A712"/>
          </a:solidFill>
          <a:ln w="12700">
            <a:solidFill>
              <a:srgbClr val="F3A712">
                <a:alpha val="0"/>
              </a:srgbClr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9134856" y="551383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400" b="1" dirty="0">
                <a:solidFill>
                  <a:srgbClr val="F3A712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P3-02</a:t>
            </a:r>
            <a:endParaRPr lang="en-US" sz="2400" dirty="0"/>
          </a:p>
        </p:txBody>
      </p:sp>
      <p:sp>
        <p:nvSpPr>
          <p:cNvPr id="39" name="Text 37"/>
          <p:cNvSpPr/>
          <p:nvPr/>
        </p:nvSpPr>
        <p:spPr>
          <a:xfrm>
            <a:off x="9134856" y="5916168"/>
            <a:ext cx="16002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5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质检仍在收尾</a:t>
            </a:r>
            <a:endParaRPr lang="en-US" sz="850" dirty="0"/>
          </a:p>
        </p:txBody>
      </p:sp>
      <p:sp>
        <p:nvSpPr>
          <p:cNvPr id="40" name="Text 38"/>
          <p:cNvSpPr/>
          <p:nvPr/>
        </p:nvSpPr>
        <p:spPr>
          <a:xfrm>
            <a:off x="10607040" y="64739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team-mini-llm | 10</a:t>
            </a:r>
            <a:endParaRPr lang="en-US" sz="7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21313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645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6BBF9A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WHERE WE ARE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8778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当前结论：基础闭环完成，下一步是质量闭环和汇报收口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77240" y="1325880"/>
            <a:ext cx="10561320" cy="932688"/>
          </a:xfrm>
          <a:prstGeom prst="rect">
            <a:avLst/>
          </a:prstGeom>
          <a:solidFill>
            <a:srgbClr val="253843"/>
          </a:solidFill>
          <a:ln w="12700">
            <a:solidFill>
              <a:srgbClr val="3A515D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77240" y="1325880"/>
            <a:ext cx="146304" cy="932688"/>
          </a:xfrm>
          <a:prstGeom prst="rect">
            <a:avLst/>
          </a:prstGeom>
          <a:solidFill>
            <a:srgbClr val="2B9348"/>
          </a:solidFill>
          <a:ln w="12700">
            <a:solidFill>
              <a:srgbClr val="2B9348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1143000" y="158191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B934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已完成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06040" y="160020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7EE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P1/P2 主线实现、测试、预训练 Small、生成、分类微调、SFT Small 冒烟。</a:t>
            </a:r>
            <a:endParaRPr lang="en-US" sz="1060" dirty="0"/>
          </a:p>
        </p:txBody>
      </p:sp>
      <p:sp>
        <p:nvSpPr>
          <p:cNvPr id="8" name="Shape 6"/>
          <p:cNvSpPr/>
          <p:nvPr/>
        </p:nvSpPr>
        <p:spPr>
          <a:xfrm>
            <a:off x="777240" y="2651760"/>
            <a:ext cx="10561320" cy="932688"/>
          </a:xfrm>
          <a:prstGeom prst="rect">
            <a:avLst/>
          </a:prstGeom>
          <a:solidFill>
            <a:srgbClr val="253843"/>
          </a:solidFill>
          <a:ln w="12700">
            <a:solidFill>
              <a:srgbClr val="3A515D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777240" y="2651760"/>
            <a:ext cx="146304" cy="932688"/>
          </a:xfrm>
          <a:prstGeom prst="rect">
            <a:avLst/>
          </a:prstGeom>
          <a:solidFill>
            <a:srgbClr val="F3A712"/>
          </a:solidFill>
          <a:ln w="12700">
            <a:solidFill>
              <a:srgbClr val="F3A71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1143000" y="290779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3A71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进行中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2606040" y="292608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7EE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P1-07 Medium + WikiText-103；P3-02 指令 SFT 质检、对照生成、文档收尾。</a:t>
            </a:r>
            <a:endParaRPr lang="en-US" sz="1060" dirty="0"/>
          </a:p>
        </p:txBody>
      </p:sp>
      <p:sp>
        <p:nvSpPr>
          <p:cNvPr id="12" name="Shape 10"/>
          <p:cNvSpPr/>
          <p:nvPr/>
        </p:nvSpPr>
        <p:spPr>
          <a:xfrm>
            <a:off x="777240" y="3977640"/>
            <a:ext cx="10561320" cy="932688"/>
          </a:xfrm>
          <a:prstGeom prst="rect">
            <a:avLst/>
          </a:prstGeom>
          <a:solidFill>
            <a:srgbClr val="253843"/>
          </a:solidFill>
          <a:ln w="12700">
            <a:solidFill>
              <a:srgbClr val="3A515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77240" y="3977640"/>
            <a:ext cx="146304" cy="932688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1143000" y="4233672"/>
            <a:ext cx="1188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4572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建议下一步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2606040" y="4251960"/>
            <a:ext cx="8138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60" dirty="0">
                <a:solidFill>
                  <a:srgbClr val="E7EEF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确认是否继续 Medium 作为正式底座；补 OWNER_CHECKLIST；把未提交改动整理成一次提交。</a:t>
            </a:r>
            <a:endParaRPr lang="en-US" sz="1060" dirty="0"/>
          </a:p>
        </p:txBody>
      </p:sp>
      <p:sp>
        <p:nvSpPr>
          <p:cNvPr id="16" name="Text 14"/>
          <p:cNvSpPr/>
          <p:nvPr/>
        </p:nvSpPr>
        <p:spPr>
          <a:xfrm>
            <a:off x="960120" y="5897880"/>
            <a:ext cx="10332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一句话：我们已经把“从零实现 LLM”的工程链路做出来了；剩下不是补基础功能，而是把实验质量、Medium 底座和汇报证据打磨干净。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0607040" y="64739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C9D3D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team-mini-llm | 11</a:t>
            </a:r>
            <a:endParaRPr lang="en-US" sz="7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0352" y="164592"/>
            <a:ext cx="292608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750" b="1" spc="160" kern="0" dirty="0">
                <a:solidFill>
                  <a:srgbClr val="087E8B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APPENDIX</a:t>
            </a:r>
            <a:endParaRPr lang="en-US" sz="750" dirty="0"/>
          </a:p>
        </p:txBody>
      </p:sp>
      <p:sp>
        <p:nvSpPr>
          <p:cNvPr id="3" name="Text 1"/>
          <p:cNvSpPr/>
          <p:nvPr/>
        </p:nvSpPr>
        <p:spPr>
          <a:xfrm>
            <a:off x="502920" y="320040"/>
            <a:ext cx="6583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答辩时可以直接指向的项目证据</a:t>
            </a:r>
            <a:endParaRPr lang="en-US" sz="2300" dirty="0"/>
          </a:p>
        </p:txBody>
      </p:sp>
      <p:sp>
        <p:nvSpPr>
          <p:cNvPr id="4" name="Shape 2"/>
          <p:cNvSpPr/>
          <p:nvPr/>
        </p:nvSpPr>
        <p:spPr>
          <a:xfrm>
            <a:off x="731520" y="1115568"/>
            <a:ext cx="484632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31520" y="1115568"/>
            <a:ext cx="91440" cy="914400"/>
          </a:xfrm>
          <a:prstGeom prst="rect">
            <a:avLst/>
          </a:prstGeom>
          <a:solidFill>
            <a:srgbClr val="087E8B"/>
          </a:solidFill>
          <a:ln w="12700">
            <a:solidFill>
              <a:srgbClr val="087E8B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950976" y="1261872"/>
            <a:ext cx="4498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SPEC.md</a:t>
            </a:r>
            <a:endParaRPr lang="en-US" sz="1080" dirty="0"/>
          </a:p>
        </p:txBody>
      </p:sp>
      <p:sp>
        <p:nvSpPr>
          <p:cNvPr id="7" name="Text 5"/>
          <p:cNvSpPr/>
          <p:nvPr/>
        </p:nvSpPr>
        <p:spPr>
          <a:xfrm>
            <a:off x="950976" y="1591056"/>
            <a:ext cx="449884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总览看板：每个 REQ 的代码、测试、阻塞项</a:t>
            </a:r>
            <a:endParaRPr lang="en-US" sz="820" dirty="0"/>
          </a:p>
        </p:txBody>
      </p:sp>
      <p:sp>
        <p:nvSpPr>
          <p:cNvPr id="8" name="Shape 6"/>
          <p:cNvSpPr/>
          <p:nvPr/>
        </p:nvSpPr>
        <p:spPr>
          <a:xfrm>
            <a:off x="6263640" y="1115568"/>
            <a:ext cx="484632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6263640" y="1115568"/>
            <a:ext cx="91440" cy="914400"/>
          </a:xfrm>
          <a:prstGeom prst="rect">
            <a:avLst/>
          </a:prstGeom>
          <a:solidFill>
            <a:srgbClr val="2E5EAA"/>
          </a:solidFill>
          <a:ln w="12700">
            <a:solidFill>
              <a:srgbClr val="2E5EAA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6483096" y="1261872"/>
            <a:ext cx="4498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HARNESS.md</a:t>
            </a:r>
            <a:endParaRPr lang="en-US" sz="1080" dirty="0"/>
          </a:p>
        </p:txBody>
      </p:sp>
      <p:sp>
        <p:nvSpPr>
          <p:cNvPr id="11" name="Text 9"/>
          <p:cNvSpPr/>
          <p:nvPr/>
        </p:nvSpPr>
        <p:spPr>
          <a:xfrm>
            <a:off x="6483096" y="1591056"/>
            <a:ext cx="449884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验收命令与通过判据</a:t>
            </a:r>
            <a:endParaRPr lang="en-US" sz="820" dirty="0"/>
          </a:p>
        </p:txBody>
      </p:sp>
      <p:sp>
        <p:nvSpPr>
          <p:cNvPr id="12" name="Shape 10"/>
          <p:cNvSpPr/>
          <p:nvPr/>
        </p:nvSpPr>
        <p:spPr>
          <a:xfrm>
            <a:off x="731520" y="2441448"/>
            <a:ext cx="484632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731520" y="2441448"/>
            <a:ext cx="91440" cy="914400"/>
          </a:xfrm>
          <a:prstGeom prst="rect">
            <a:avLst/>
          </a:prstGeom>
          <a:solidFill>
            <a:srgbClr val="E4572E"/>
          </a:solidFill>
          <a:ln w="12700">
            <a:solidFill>
              <a:srgbClr val="E4572E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950976" y="2587752"/>
            <a:ext cx="4498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docs/RUN_REPORT_gpt2_small_wikitext103.md</a:t>
            </a:r>
            <a:endParaRPr lang="en-US" sz="1080" dirty="0"/>
          </a:p>
        </p:txBody>
      </p:sp>
      <p:sp>
        <p:nvSpPr>
          <p:cNvPr id="15" name="Text 13"/>
          <p:cNvSpPr/>
          <p:nvPr/>
        </p:nvSpPr>
        <p:spPr>
          <a:xfrm>
            <a:off x="950976" y="2916936"/>
            <a:ext cx="449884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Small 预训练运行报告与 val_loss 曲线</a:t>
            </a:r>
            <a:endParaRPr lang="en-US" sz="820" dirty="0"/>
          </a:p>
        </p:txBody>
      </p:sp>
      <p:sp>
        <p:nvSpPr>
          <p:cNvPr id="16" name="Shape 14"/>
          <p:cNvSpPr/>
          <p:nvPr/>
        </p:nvSpPr>
        <p:spPr>
          <a:xfrm>
            <a:off x="6263640" y="2441448"/>
            <a:ext cx="484632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6263640" y="2441448"/>
            <a:ext cx="91440" cy="914400"/>
          </a:xfrm>
          <a:prstGeom prst="rect">
            <a:avLst/>
          </a:prstGeom>
          <a:solidFill>
            <a:srgbClr val="F3A712"/>
          </a:solidFill>
          <a:ln w="12700">
            <a:solidFill>
              <a:srgbClr val="F3A712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6483096" y="2587752"/>
            <a:ext cx="4498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docs/RUN_REPORT_instruction_sft_small.md</a:t>
            </a:r>
            <a:endParaRPr lang="en-US" sz="1080" dirty="0"/>
          </a:p>
        </p:txBody>
      </p:sp>
      <p:sp>
        <p:nvSpPr>
          <p:cNvPr id="19" name="Text 17"/>
          <p:cNvSpPr/>
          <p:nvPr/>
        </p:nvSpPr>
        <p:spPr>
          <a:xfrm>
            <a:off x="6483096" y="2916936"/>
            <a:ext cx="449884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指令 SFT 冒烟报告</a:t>
            </a:r>
            <a:endParaRPr lang="en-US" sz="820" dirty="0"/>
          </a:p>
        </p:txBody>
      </p:sp>
      <p:sp>
        <p:nvSpPr>
          <p:cNvPr id="20" name="Shape 18"/>
          <p:cNvSpPr/>
          <p:nvPr/>
        </p:nvSpPr>
        <p:spPr>
          <a:xfrm>
            <a:off x="731520" y="3767328"/>
            <a:ext cx="484632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731520" y="3767328"/>
            <a:ext cx="91440" cy="914400"/>
          </a:xfrm>
          <a:prstGeom prst="rect">
            <a:avLst/>
          </a:prstGeom>
          <a:solidFill>
            <a:srgbClr val="2B9348"/>
          </a:solidFill>
          <a:ln w="12700">
            <a:solidFill>
              <a:srgbClr val="2B9348">
                <a:alpha val="0"/>
              </a:srgbClr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950976" y="3913632"/>
            <a:ext cx="4498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docs/OWNER_CHECKLIST.md</a:t>
            </a:r>
            <a:endParaRPr lang="en-US" sz="1080" dirty="0"/>
          </a:p>
        </p:txBody>
      </p:sp>
      <p:sp>
        <p:nvSpPr>
          <p:cNvPr id="23" name="Text 21"/>
          <p:cNvSpPr/>
          <p:nvPr/>
        </p:nvSpPr>
        <p:spPr>
          <a:xfrm>
            <a:off x="950976" y="4242816"/>
            <a:ext cx="449884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负责人手动验收手册</a:t>
            </a:r>
            <a:endParaRPr lang="en-US" sz="820" dirty="0"/>
          </a:p>
        </p:txBody>
      </p:sp>
      <p:sp>
        <p:nvSpPr>
          <p:cNvPr id="24" name="Shape 22"/>
          <p:cNvSpPr/>
          <p:nvPr/>
        </p:nvSpPr>
        <p:spPr>
          <a:xfrm>
            <a:off x="6263640" y="3767328"/>
            <a:ext cx="4846320" cy="914400"/>
          </a:xfrm>
          <a:prstGeom prst="rect">
            <a:avLst/>
          </a:prstGeom>
          <a:solidFill>
            <a:srgbClr val="FFFFFF"/>
          </a:solidFill>
          <a:ln w="8890">
            <a:solidFill>
              <a:srgbClr val="DDE4E8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6263640" y="3767328"/>
            <a:ext cx="91440" cy="914400"/>
          </a:xfrm>
          <a:prstGeom prst="rect">
            <a:avLst/>
          </a:prstGeom>
          <a:solidFill>
            <a:srgbClr val="8E7DBE"/>
          </a:solidFill>
          <a:ln w="12700">
            <a:solidFill>
              <a:srgbClr val="8E7DBE">
                <a:alpha val="0"/>
              </a:srgbClr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483096" y="3913632"/>
            <a:ext cx="449884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80" b="1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openspec/specs/</a:t>
            </a:r>
            <a:endParaRPr lang="en-US" sz="1080" dirty="0"/>
          </a:p>
        </p:txBody>
      </p:sp>
      <p:sp>
        <p:nvSpPr>
          <p:cNvPr id="27" name="Text 25"/>
          <p:cNvSpPr/>
          <p:nvPr/>
        </p:nvSpPr>
        <p:spPr>
          <a:xfrm>
            <a:off x="6483096" y="4242816"/>
            <a:ext cx="4498848" cy="292608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82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行为规格：pretraining / generation / classify-sms / instruction-sft</a:t>
            </a:r>
            <a:endParaRPr lang="en-US" sz="820" dirty="0"/>
          </a:p>
        </p:txBody>
      </p:sp>
      <p:sp>
        <p:nvSpPr>
          <p:cNvPr id="28" name="Shape 26"/>
          <p:cNvSpPr/>
          <p:nvPr/>
        </p:nvSpPr>
        <p:spPr>
          <a:xfrm>
            <a:off x="868680" y="5577840"/>
            <a:ext cx="10469880" cy="438912"/>
          </a:xfrm>
          <a:prstGeom prst="rect">
            <a:avLst/>
          </a:prstGeom>
          <a:solidFill>
            <a:srgbClr val="FFFFFF"/>
          </a:solidFill>
          <a:ln w="12700">
            <a:solidFill>
              <a:srgbClr val="D9E0E4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1051560" y="5733288"/>
            <a:ext cx="100584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80" dirty="0">
                <a:solidFill>
                  <a:srgbClr val="17202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补充建议：展示时先跑 `uv run pytest -q` 的结果，再展示 checkpoint 与两份运行报告，比单纯讲代码更有说服力。</a:t>
            </a:r>
            <a:endParaRPr lang="en-US" sz="880" dirty="0"/>
          </a:p>
        </p:txBody>
      </p:sp>
      <p:sp>
        <p:nvSpPr>
          <p:cNvPr id="30" name="Text 28"/>
          <p:cNvSpPr/>
          <p:nvPr/>
        </p:nvSpPr>
        <p:spPr>
          <a:xfrm>
            <a:off x="10607040" y="6473952"/>
            <a:ext cx="11430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750" dirty="0">
                <a:solidFill>
                  <a:srgbClr val="65737C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team-mini-llm | 12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llms_team_work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team-mini-llm 实现细节汇报</dc:title>
  <dc:subject>team-mini-llm implementation details</dc:subject>
  <dc:creator>team-mini-llm</dc:creator>
  <cp:lastModifiedBy>team-mini-llm</cp:lastModifiedBy>
  <cp:revision>1</cp:revision>
  <dcterms:created xsi:type="dcterms:W3CDTF">2026-05-17T14:25:40Z</dcterms:created>
  <dcterms:modified xsi:type="dcterms:W3CDTF">2026-05-17T14:25:40Z</dcterms:modified>
</cp:coreProperties>
</file>